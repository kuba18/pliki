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4" d="100"/>
          <a:sy n="104" d="100"/>
        </p:scale>
        <p:origin x="72"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6423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2.png"/><Relationship Id="rId7" Type="http://schemas.openxmlformats.org/officeDocument/2006/relationships/image" Target="../media/image2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2.png"/><Relationship Id="rId7" Type="http://schemas.openxmlformats.org/officeDocument/2006/relationships/image" Target="../media/image2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jpg"/><Relationship Id="rId9"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12.png"/><Relationship Id="rId7" Type="http://schemas.openxmlformats.org/officeDocument/2006/relationships/image" Target="../media/image35.png"/><Relationship Id="rId12" Type="http://schemas.openxmlformats.org/officeDocument/2006/relationships/image" Target="../media/image40.jp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32.png"/><Relationship Id="rId9" Type="http://schemas.openxmlformats.org/officeDocument/2006/relationships/image" Target="../media/image37.png"/></Relationships>
</file>

<file path=ppt/slides/_rels/slide6.xml.rels><?xml version="1.0" encoding="UTF-8" standalone="yes"?>
<Relationships xmlns="http://schemas.openxmlformats.org/package/2006/relationships"><Relationship Id="rId8" Type="http://schemas.openxmlformats.org/officeDocument/2006/relationships/image" Target="../media/image44.png"/><Relationship Id="rId3" Type="http://schemas.openxmlformats.org/officeDocument/2006/relationships/image" Target="../media/image12.png"/><Relationship Id="rId7" Type="http://schemas.openxmlformats.org/officeDocument/2006/relationships/image" Target="../media/image43.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42.png"/><Relationship Id="rId4" Type="http://schemas.openxmlformats.org/officeDocument/2006/relationships/image" Target="../media/image41.png"/></Relationships>
</file>

<file path=ppt/slides/_rels/slide7.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54.png"/><Relationship Id="rId3" Type="http://schemas.openxmlformats.org/officeDocument/2006/relationships/image" Target="../media/image12.png"/><Relationship Id="rId7" Type="http://schemas.openxmlformats.org/officeDocument/2006/relationships/image" Target="../media/image48.png"/><Relationship Id="rId12" Type="http://schemas.openxmlformats.org/officeDocument/2006/relationships/image" Target="../media/image53.png"/><Relationship Id="rId2" Type="http://schemas.openxmlformats.org/officeDocument/2006/relationships/notesSlide" Target="../notesSlides/notesSlide7.xml"/><Relationship Id="rId16" Type="http://schemas.openxmlformats.org/officeDocument/2006/relationships/image" Target="../media/image57.jpg"/><Relationship Id="rId1" Type="http://schemas.openxmlformats.org/officeDocument/2006/relationships/slideLayout" Target="../slideLayouts/slideLayout1.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png"/><Relationship Id="rId15" Type="http://schemas.openxmlformats.org/officeDocument/2006/relationships/image" Target="../media/image56.png"/><Relationship Id="rId10" Type="http://schemas.openxmlformats.org/officeDocument/2006/relationships/image" Target="../media/image51.png"/><Relationship Id="rId4" Type="http://schemas.openxmlformats.org/officeDocument/2006/relationships/image" Target="../media/image45.png"/><Relationship Id="rId9" Type="http://schemas.openxmlformats.org/officeDocument/2006/relationships/image" Target="../media/image50.png"/><Relationship Id="rId14" Type="http://schemas.openxmlformats.org/officeDocument/2006/relationships/image" Target="../media/image55.png"/></Relationships>
</file>

<file path=ppt/slides/_rels/slide8.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12.png"/><Relationship Id="rId7" Type="http://schemas.openxmlformats.org/officeDocument/2006/relationships/image" Target="../media/image61.jpeg"/><Relationship Id="rId12" Type="http://schemas.openxmlformats.org/officeDocument/2006/relationships/image" Target="../media/image6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60.png"/><Relationship Id="rId11" Type="http://schemas.openxmlformats.org/officeDocument/2006/relationships/image" Target="../media/image65.png"/><Relationship Id="rId5" Type="http://schemas.openxmlformats.org/officeDocument/2006/relationships/image" Target="../media/image59.jpeg"/><Relationship Id="rId10" Type="http://schemas.openxmlformats.org/officeDocument/2006/relationships/image" Target="../media/image64.png"/><Relationship Id="rId4" Type="http://schemas.openxmlformats.org/officeDocument/2006/relationships/image" Target="../media/image58.png"/><Relationship Id="rId9" Type="http://schemas.openxmlformats.org/officeDocument/2006/relationships/image" Target="../media/image63.png"/></Relationships>
</file>

<file path=ppt/slides/_rels/slide9.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12.png"/><Relationship Id="rId7" Type="http://schemas.openxmlformats.org/officeDocument/2006/relationships/image" Target="../media/image7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69.png"/><Relationship Id="rId11" Type="http://schemas.openxmlformats.org/officeDocument/2006/relationships/image" Target="../media/image74.png"/><Relationship Id="rId5" Type="http://schemas.openxmlformats.org/officeDocument/2006/relationships/image" Target="../media/image68.png"/><Relationship Id="rId10" Type="http://schemas.openxmlformats.org/officeDocument/2006/relationships/image" Target="../media/image73.png"/><Relationship Id="rId4" Type="http://schemas.openxmlformats.org/officeDocument/2006/relationships/image" Target="../media/image67.png"/><Relationship Id="rId9" Type="http://schemas.openxmlformats.org/officeDocument/2006/relationships/image" Target="../media/image7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0" y="0"/>
            <a:ext cx="12192000" cy="6858000"/>
          </a:xfrm>
          <a:prstGeom prst="rect">
            <a:avLst/>
          </a:prstGeom>
        </p:spPr>
      </p:pic>
      <p:pic>
        <p:nvPicPr>
          <p:cNvPr id="4" name="Image 2" descr="preencoded.png"/>
          <p:cNvPicPr>
            <a:picLocks noChangeAspect="1"/>
          </p:cNvPicPr>
          <p:nvPr/>
        </p:nvPicPr>
        <p:blipFill>
          <a:blip r:embed="rId5"/>
          <a:stretch>
            <a:fillRect/>
          </a:stretch>
        </p:blipFill>
        <p:spPr>
          <a:xfrm>
            <a:off x="5638800" y="1885950"/>
            <a:ext cx="914400" cy="38100"/>
          </a:xfrm>
          <a:prstGeom prst="rect">
            <a:avLst/>
          </a:prstGeom>
        </p:spPr>
      </p:pic>
      <p:pic>
        <p:nvPicPr>
          <p:cNvPr id="5" name="Image 3" descr="preencoded.png"/>
          <p:cNvPicPr>
            <a:picLocks noChangeAspect="1"/>
          </p:cNvPicPr>
          <p:nvPr/>
        </p:nvPicPr>
        <p:blipFill>
          <a:blip r:embed="rId6"/>
          <a:stretch>
            <a:fillRect/>
          </a:stretch>
        </p:blipFill>
        <p:spPr>
          <a:xfrm>
            <a:off x="4052888" y="3295650"/>
            <a:ext cx="914400" cy="914400"/>
          </a:xfrm>
          <a:prstGeom prst="rect">
            <a:avLst/>
          </a:prstGeom>
        </p:spPr>
      </p:pic>
      <p:pic>
        <p:nvPicPr>
          <p:cNvPr id="6" name="Image 4" descr="preencoded.png"/>
          <p:cNvPicPr>
            <a:picLocks noChangeAspect="1"/>
          </p:cNvPicPr>
          <p:nvPr/>
        </p:nvPicPr>
        <p:blipFill>
          <a:blip r:embed="rId7"/>
          <a:stretch>
            <a:fillRect/>
          </a:stretch>
        </p:blipFill>
        <p:spPr>
          <a:xfrm>
            <a:off x="4338638" y="3562350"/>
            <a:ext cx="342900" cy="381000"/>
          </a:xfrm>
          <a:prstGeom prst="rect">
            <a:avLst/>
          </a:prstGeom>
        </p:spPr>
      </p:pic>
      <p:pic>
        <p:nvPicPr>
          <p:cNvPr id="7" name="Image 5" descr="preencoded.png"/>
          <p:cNvPicPr>
            <a:picLocks noChangeAspect="1"/>
          </p:cNvPicPr>
          <p:nvPr/>
        </p:nvPicPr>
        <p:blipFill>
          <a:blip r:embed="rId8"/>
          <a:stretch>
            <a:fillRect/>
          </a:stretch>
        </p:blipFill>
        <p:spPr>
          <a:xfrm>
            <a:off x="5729288" y="3295650"/>
            <a:ext cx="914400" cy="914400"/>
          </a:xfrm>
          <a:prstGeom prst="rect">
            <a:avLst/>
          </a:prstGeom>
        </p:spPr>
      </p:pic>
      <p:pic>
        <p:nvPicPr>
          <p:cNvPr id="8" name="Image 6" descr="preencoded.png"/>
          <p:cNvPicPr>
            <a:picLocks noChangeAspect="1"/>
          </p:cNvPicPr>
          <p:nvPr/>
        </p:nvPicPr>
        <p:blipFill>
          <a:blip r:embed="rId9"/>
          <a:stretch>
            <a:fillRect/>
          </a:stretch>
        </p:blipFill>
        <p:spPr>
          <a:xfrm>
            <a:off x="5991225" y="3562350"/>
            <a:ext cx="390525" cy="381000"/>
          </a:xfrm>
          <a:prstGeom prst="rect">
            <a:avLst/>
          </a:prstGeom>
        </p:spPr>
      </p:pic>
      <p:pic>
        <p:nvPicPr>
          <p:cNvPr id="9" name="Image 7" descr="preencoded.png"/>
          <p:cNvPicPr>
            <a:picLocks noChangeAspect="1"/>
          </p:cNvPicPr>
          <p:nvPr/>
        </p:nvPicPr>
        <p:blipFill>
          <a:blip r:embed="rId10"/>
          <a:stretch>
            <a:fillRect/>
          </a:stretch>
        </p:blipFill>
        <p:spPr>
          <a:xfrm>
            <a:off x="7315200" y="3295650"/>
            <a:ext cx="914400" cy="914400"/>
          </a:xfrm>
          <a:prstGeom prst="rect">
            <a:avLst/>
          </a:prstGeom>
        </p:spPr>
      </p:pic>
      <p:pic>
        <p:nvPicPr>
          <p:cNvPr id="10" name="Image 8" descr="preencoded.png"/>
          <p:cNvPicPr>
            <a:picLocks noChangeAspect="1"/>
          </p:cNvPicPr>
          <p:nvPr/>
        </p:nvPicPr>
        <p:blipFill>
          <a:blip r:embed="rId11"/>
          <a:stretch>
            <a:fillRect/>
          </a:stretch>
        </p:blipFill>
        <p:spPr>
          <a:xfrm>
            <a:off x="7600950" y="3562350"/>
            <a:ext cx="342900" cy="381000"/>
          </a:xfrm>
          <a:prstGeom prst="rect">
            <a:avLst/>
          </a:prstGeom>
        </p:spPr>
      </p:pic>
      <p:pic>
        <p:nvPicPr>
          <p:cNvPr id="11" name="Image 9" descr="preencoded.png"/>
          <p:cNvPicPr>
            <a:picLocks noChangeAspect="1"/>
          </p:cNvPicPr>
          <p:nvPr/>
        </p:nvPicPr>
        <p:blipFill>
          <a:blip r:embed="rId12"/>
          <a:stretch>
            <a:fillRect/>
          </a:stretch>
        </p:blipFill>
        <p:spPr>
          <a:xfrm>
            <a:off x="1981200" y="5543550"/>
            <a:ext cx="8229600" cy="38100"/>
          </a:xfrm>
          <a:prstGeom prst="rect">
            <a:avLst/>
          </a:prstGeom>
        </p:spPr>
      </p:pic>
      <p:pic>
        <p:nvPicPr>
          <p:cNvPr id="12" name="Image 10" descr="preencoded.png"/>
          <p:cNvPicPr>
            <a:picLocks noChangeAspect="1"/>
          </p:cNvPicPr>
          <p:nvPr/>
        </p:nvPicPr>
        <p:blipFill>
          <a:blip r:embed="rId13"/>
          <a:stretch>
            <a:fillRect/>
          </a:stretch>
        </p:blipFill>
        <p:spPr>
          <a:xfrm>
            <a:off x="1981200" y="5486400"/>
            <a:ext cx="152400" cy="152400"/>
          </a:xfrm>
          <a:prstGeom prst="rect">
            <a:avLst/>
          </a:prstGeom>
        </p:spPr>
      </p:pic>
      <p:pic>
        <p:nvPicPr>
          <p:cNvPr id="13" name="Image 11" descr="preencoded.png"/>
          <p:cNvPicPr>
            <a:picLocks noChangeAspect="1"/>
          </p:cNvPicPr>
          <p:nvPr/>
        </p:nvPicPr>
        <p:blipFill>
          <a:blip r:embed="rId13"/>
          <a:stretch>
            <a:fillRect/>
          </a:stretch>
        </p:blipFill>
        <p:spPr>
          <a:xfrm>
            <a:off x="4038600" y="5486400"/>
            <a:ext cx="152400" cy="152400"/>
          </a:xfrm>
          <a:prstGeom prst="rect">
            <a:avLst/>
          </a:prstGeom>
        </p:spPr>
      </p:pic>
      <p:pic>
        <p:nvPicPr>
          <p:cNvPr id="14" name="Image 12" descr="preencoded.png"/>
          <p:cNvPicPr>
            <a:picLocks noChangeAspect="1"/>
          </p:cNvPicPr>
          <p:nvPr/>
        </p:nvPicPr>
        <p:blipFill>
          <a:blip r:embed="rId13"/>
          <a:stretch>
            <a:fillRect/>
          </a:stretch>
        </p:blipFill>
        <p:spPr>
          <a:xfrm>
            <a:off x="6096000" y="5486400"/>
            <a:ext cx="152400" cy="152400"/>
          </a:xfrm>
          <a:prstGeom prst="rect">
            <a:avLst/>
          </a:prstGeom>
        </p:spPr>
      </p:pic>
      <p:pic>
        <p:nvPicPr>
          <p:cNvPr id="15" name="Image 13" descr="preencoded.png"/>
          <p:cNvPicPr>
            <a:picLocks noChangeAspect="1"/>
          </p:cNvPicPr>
          <p:nvPr/>
        </p:nvPicPr>
        <p:blipFill>
          <a:blip r:embed="rId13"/>
          <a:stretch>
            <a:fillRect/>
          </a:stretch>
        </p:blipFill>
        <p:spPr>
          <a:xfrm>
            <a:off x="8153400" y="5486400"/>
            <a:ext cx="152400" cy="152400"/>
          </a:xfrm>
          <a:prstGeom prst="rect">
            <a:avLst/>
          </a:prstGeom>
        </p:spPr>
      </p:pic>
      <p:pic>
        <p:nvPicPr>
          <p:cNvPr id="16" name="Image 14" descr="preencoded.png"/>
          <p:cNvPicPr>
            <a:picLocks noChangeAspect="1"/>
          </p:cNvPicPr>
          <p:nvPr/>
        </p:nvPicPr>
        <p:blipFill>
          <a:blip r:embed="rId13"/>
          <a:stretch>
            <a:fillRect/>
          </a:stretch>
        </p:blipFill>
        <p:spPr>
          <a:xfrm>
            <a:off x="10058400" y="5486400"/>
            <a:ext cx="152400" cy="152400"/>
          </a:xfrm>
          <a:prstGeom prst="rect">
            <a:avLst/>
          </a:prstGeom>
        </p:spPr>
      </p:pic>
      <p:sp>
        <p:nvSpPr>
          <p:cNvPr id="17" name="Text 0"/>
          <p:cNvSpPr/>
          <p:nvPr/>
        </p:nvSpPr>
        <p:spPr>
          <a:xfrm>
            <a:off x="656049" y="1276350"/>
            <a:ext cx="10879901" cy="457200"/>
          </a:xfrm>
          <a:prstGeom prst="rect">
            <a:avLst/>
          </a:prstGeom>
          <a:noFill/>
          <a:ln/>
        </p:spPr>
        <p:txBody>
          <a:bodyPr wrap="square" lIns="0" tIns="0" rIns="0" bIns="0" rtlCol="0" anchor="t">
            <a:spAutoFit/>
          </a:bodyPr>
          <a:lstStyle/>
          <a:p>
            <a:pPr marL="0" indent="0" algn="ctr">
              <a:lnSpc>
                <a:spcPts val="3600"/>
              </a:lnSpc>
              <a:buNone/>
            </a:pPr>
            <a:r>
              <a:rPr lang="en-US" sz="3158" b="1" kern="0" spc="144" dirty="0">
                <a:solidFill>
                  <a:srgbClr val="FFFFFF"/>
                </a:solidFill>
                <a:latin typeface="Roboto" pitchFamily="34" charset="0"/>
                <a:ea typeface="Roboto" pitchFamily="34" charset="-122"/>
                <a:cs typeface="Roboto" pitchFamily="34" charset="-120"/>
              </a:rPr>
              <a:t>EWOLUCJA SYSTEMÓW KOMPUTEROWYCH</a:t>
            </a:r>
            <a:endParaRPr lang="en-US" sz="3158" dirty="0"/>
          </a:p>
        </p:txBody>
      </p:sp>
      <p:sp>
        <p:nvSpPr>
          <p:cNvPr id="18" name="Text 1"/>
          <p:cNvSpPr/>
          <p:nvPr/>
        </p:nvSpPr>
        <p:spPr>
          <a:xfrm>
            <a:off x="656049" y="2152650"/>
            <a:ext cx="10879901" cy="304800"/>
          </a:xfrm>
          <a:prstGeom prst="rect">
            <a:avLst/>
          </a:prstGeom>
          <a:noFill/>
          <a:ln/>
        </p:spPr>
        <p:txBody>
          <a:bodyPr wrap="square" lIns="0" tIns="0" rIns="0" bIns="0" rtlCol="0" anchor="t">
            <a:spAutoFit/>
          </a:bodyPr>
          <a:lstStyle/>
          <a:p>
            <a:pPr marL="0" indent="0" algn="ctr">
              <a:lnSpc>
                <a:spcPts val="2400"/>
              </a:lnSpc>
              <a:buNone/>
            </a:pPr>
            <a:r>
              <a:rPr lang="en-US" sz="1646" kern="0" spc="36" dirty="0">
                <a:solidFill>
                  <a:srgbClr val="67E8F9"/>
                </a:solidFill>
                <a:latin typeface="Roboto" pitchFamily="34" charset="0"/>
                <a:ea typeface="Roboto" pitchFamily="34" charset="-122"/>
                <a:cs typeface="Roboto" pitchFamily="34" charset="-120"/>
              </a:rPr>
              <a:t>Zwiększanie Siły Obliczeniowej, Pojemności Pamięci i Przechowywania Danych</a:t>
            </a:r>
            <a:endParaRPr lang="en-US" sz="1646" dirty="0"/>
          </a:p>
        </p:txBody>
      </p:sp>
      <p:sp>
        <p:nvSpPr>
          <p:cNvPr id="19" name="Text 2"/>
          <p:cNvSpPr/>
          <p:nvPr/>
        </p:nvSpPr>
        <p:spPr>
          <a:xfrm>
            <a:off x="4129088" y="4324350"/>
            <a:ext cx="838200" cy="266700"/>
          </a:xfrm>
          <a:prstGeom prst="rect">
            <a:avLst/>
          </a:prstGeom>
          <a:noFill/>
          <a:ln/>
        </p:spPr>
        <p:txBody>
          <a:bodyPr wrap="square" lIns="0" tIns="0" rIns="0" bIns="0" rtlCol="0" anchor="t">
            <a:spAutoFit/>
          </a:bodyPr>
          <a:lstStyle/>
          <a:p>
            <a:pPr marL="0" indent="0">
              <a:lnSpc>
                <a:spcPts val="2100"/>
              </a:lnSpc>
              <a:buNone/>
            </a:pPr>
            <a:r>
              <a:rPr lang="en-US" sz="1260" dirty="0">
                <a:solidFill>
                  <a:srgbClr val="FFFFFF"/>
                </a:solidFill>
                <a:latin typeface="Roboto" pitchFamily="34" charset="0"/>
                <a:ea typeface="Roboto" pitchFamily="34" charset="-122"/>
                <a:cs typeface="Roboto" pitchFamily="34" charset="-120"/>
              </a:rPr>
              <a:t>Procesory</a:t>
            </a:r>
            <a:endParaRPr lang="en-US" sz="1260" dirty="0"/>
          </a:p>
        </p:txBody>
      </p:sp>
      <p:sp>
        <p:nvSpPr>
          <p:cNvPr id="20" name="Text 3"/>
          <p:cNvSpPr/>
          <p:nvPr/>
        </p:nvSpPr>
        <p:spPr>
          <a:xfrm>
            <a:off x="3786188" y="4591050"/>
            <a:ext cx="1592580" cy="190500"/>
          </a:xfrm>
          <a:prstGeom prst="rect">
            <a:avLst/>
          </a:prstGeom>
          <a:noFill/>
          <a:ln/>
        </p:spPr>
        <p:txBody>
          <a:bodyPr wrap="square" lIns="0" tIns="0" rIns="0" bIns="0" rtlCol="0" anchor="t">
            <a:spAutoFit/>
          </a:bodyPr>
          <a:lstStyle/>
          <a:p>
            <a:pPr marL="0" indent="0">
              <a:lnSpc>
                <a:spcPts val="1500"/>
              </a:lnSpc>
              <a:buNone/>
            </a:pPr>
            <a:r>
              <a:rPr lang="en-US" sz="980" dirty="0">
                <a:solidFill>
                  <a:srgbClr val="67E8F9"/>
                </a:solidFill>
                <a:latin typeface="Roboto" pitchFamily="34" charset="0"/>
                <a:ea typeface="Roboto" pitchFamily="34" charset="-122"/>
                <a:cs typeface="Roboto" pitchFamily="34" charset="-120"/>
              </a:rPr>
              <a:t>Od 2300 do 100M rdzeni</a:t>
            </a:r>
            <a:endParaRPr lang="en-US" sz="980" dirty="0"/>
          </a:p>
        </p:txBody>
      </p:sp>
      <p:sp>
        <p:nvSpPr>
          <p:cNvPr id="21" name="Text 4"/>
          <p:cNvSpPr/>
          <p:nvPr/>
        </p:nvSpPr>
        <p:spPr>
          <a:xfrm>
            <a:off x="5691188" y="4324350"/>
            <a:ext cx="1089660" cy="266700"/>
          </a:xfrm>
          <a:prstGeom prst="rect">
            <a:avLst/>
          </a:prstGeom>
          <a:noFill/>
          <a:ln/>
        </p:spPr>
        <p:txBody>
          <a:bodyPr wrap="square" lIns="0" tIns="0" rIns="0" bIns="0" rtlCol="0" anchor="t">
            <a:spAutoFit/>
          </a:bodyPr>
          <a:lstStyle/>
          <a:p>
            <a:pPr marL="0" indent="0">
              <a:lnSpc>
                <a:spcPts val="2100"/>
              </a:lnSpc>
              <a:buNone/>
            </a:pPr>
            <a:r>
              <a:rPr lang="en-US" sz="1260" dirty="0">
                <a:solidFill>
                  <a:srgbClr val="FFFFFF"/>
                </a:solidFill>
                <a:latin typeface="Roboto" pitchFamily="34" charset="0"/>
                <a:ea typeface="Roboto" pitchFamily="34" charset="-122"/>
                <a:cs typeface="Roboto" pitchFamily="34" charset="-120"/>
              </a:rPr>
              <a:t>Pamięć RAM</a:t>
            </a:r>
            <a:endParaRPr lang="en-US" sz="1260" dirty="0"/>
          </a:p>
        </p:txBody>
      </p:sp>
      <p:sp>
        <p:nvSpPr>
          <p:cNvPr id="22" name="Text 5"/>
          <p:cNvSpPr/>
          <p:nvPr/>
        </p:nvSpPr>
        <p:spPr>
          <a:xfrm>
            <a:off x="5815013" y="4591050"/>
            <a:ext cx="817245" cy="190500"/>
          </a:xfrm>
          <a:prstGeom prst="rect">
            <a:avLst/>
          </a:prstGeom>
          <a:noFill/>
          <a:ln/>
        </p:spPr>
        <p:txBody>
          <a:bodyPr wrap="square" lIns="0" tIns="0" rIns="0" bIns="0" rtlCol="0" anchor="t">
            <a:spAutoFit/>
          </a:bodyPr>
          <a:lstStyle/>
          <a:p>
            <a:pPr marL="0" indent="0">
              <a:lnSpc>
                <a:spcPts val="1500"/>
              </a:lnSpc>
              <a:buNone/>
            </a:pPr>
            <a:r>
              <a:rPr lang="en-US" sz="980" dirty="0">
                <a:solidFill>
                  <a:srgbClr val="5EEAD4"/>
                </a:solidFill>
                <a:latin typeface="Roboto" pitchFamily="34" charset="0"/>
                <a:ea typeface="Roboto" pitchFamily="34" charset="-122"/>
                <a:cs typeface="Roboto" pitchFamily="34" charset="-120"/>
              </a:rPr>
              <a:t>Od KB do TB</a:t>
            </a:r>
            <a:endParaRPr lang="en-US" sz="980" dirty="0"/>
          </a:p>
        </p:txBody>
      </p:sp>
      <p:sp>
        <p:nvSpPr>
          <p:cNvPr id="23" name="Text 6"/>
          <p:cNvSpPr/>
          <p:nvPr/>
        </p:nvSpPr>
        <p:spPr>
          <a:xfrm>
            <a:off x="7138988" y="4324350"/>
            <a:ext cx="1393508" cy="266700"/>
          </a:xfrm>
          <a:prstGeom prst="rect">
            <a:avLst/>
          </a:prstGeom>
          <a:noFill/>
          <a:ln/>
        </p:spPr>
        <p:txBody>
          <a:bodyPr wrap="square" lIns="0" tIns="0" rIns="0" bIns="0" rtlCol="0" anchor="t">
            <a:spAutoFit/>
          </a:bodyPr>
          <a:lstStyle/>
          <a:p>
            <a:pPr marL="0" indent="0">
              <a:lnSpc>
                <a:spcPts val="2100"/>
              </a:lnSpc>
              <a:buNone/>
            </a:pPr>
            <a:r>
              <a:rPr lang="en-US" sz="1260" dirty="0">
                <a:solidFill>
                  <a:srgbClr val="FFFFFF"/>
                </a:solidFill>
                <a:latin typeface="Roboto" pitchFamily="34" charset="0"/>
                <a:ea typeface="Roboto" pitchFamily="34" charset="-122"/>
                <a:cs typeface="Roboto" pitchFamily="34" charset="-120"/>
              </a:rPr>
              <a:t>Pamięć Masowa</a:t>
            </a:r>
            <a:endParaRPr lang="en-US" sz="1260" dirty="0"/>
          </a:p>
        </p:txBody>
      </p:sp>
      <p:sp>
        <p:nvSpPr>
          <p:cNvPr id="24" name="Text 7"/>
          <p:cNvSpPr/>
          <p:nvPr/>
        </p:nvSpPr>
        <p:spPr>
          <a:xfrm>
            <a:off x="7381875" y="4591050"/>
            <a:ext cx="859155" cy="190500"/>
          </a:xfrm>
          <a:prstGeom prst="rect">
            <a:avLst/>
          </a:prstGeom>
          <a:noFill/>
          <a:ln/>
        </p:spPr>
        <p:txBody>
          <a:bodyPr wrap="square" lIns="0" tIns="0" rIns="0" bIns="0" rtlCol="0" anchor="t">
            <a:spAutoFit/>
          </a:bodyPr>
          <a:lstStyle/>
          <a:p>
            <a:pPr marL="0" indent="0">
              <a:lnSpc>
                <a:spcPts val="1500"/>
              </a:lnSpc>
              <a:buNone/>
            </a:pPr>
            <a:r>
              <a:rPr lang="en-US" sz="980" dirty="0">
                <a:solidFill>
                  <a:srgbClr val="FDBA74"/>
                </a:solidFill>
                <a:latin typeface="Roboto" pitchFamily="34" charset="0"/>
                <a:ea typeface="Roboto" pitchFamily="34" charset="-122"/>
                <a:cs typeface="Roboto" pitchFamily="34" charset="-120"/>
              </a:rPr>
              <a:t>Od MB do PB</a:t>
            </a:r>
            <a:endParaRPr lang="en-US" sz="980" dirty="0"/>
          </a:p>
        </p:txBody>
      </p:sp>
      <p:sp>
        <p:nvSpPr>
          <p:cNvPr id="25" name="Text 8"/>
          <p:cNvSpPr/>
          <p:nvPr/>
        </p:nvSpPr>
        <p:spPr>
          <a:xfrm>
            <a:off x="1981200" y="5619750"/>
            <a:ext cx="293370"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9CA3AF"/>
                </a:solidFill>
                <a:latin typeface="Roboto" pitchFamily="34" charset="0"/>
                <a:ea typeface="Roboto" pitchFamily="34" charset="-122"/>
                <a:cs typeface="Roboto" pitchFamily="34" charset="-120"/>
              </a:rPr>
              <a:t>1970</a:t>
            </a:r>
            <a:endParaRPr lang="en-US" sz="840" dirty="0"/>
          </a:p>
        </p:txBody>
      </p:sp>
      <p:sp>
        <p:nvSpPr>
          <p:cNvPr id="26" name="Text 9"/>
          <p:cNvSpPr/>
          <p:nvPr/>
        </p:nvSpPr>
        <p:spPr>
          <a:xfrm>
            <a:off x="4038600" y="5619750"/>
            <a:ext cx="293370"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9CA3AF"/>
                </a:solidFill>
                <a:latin typeface="Roboto" pitchFamily="34" charset="0"/>
                <a:ea typeface="Roboto" pitchFamily="34" charset="-122"/>
                <a:cs typeface="Roboto" pitchFamily="34" charset="-120"/>
              </a:rPr>
              <a:t>1990</a:t>
            </a:r>
            <a:endParaRPr lang="en-US" sz="840" dirty="0"/>
          </a:p>
        </p:txBody>
      </p:sp>
      <p:sp>
        <p:nvSpPr>
          <p:cNvPr id="27" name="Text 10"/>
          <p:cNvSpPr/>
          <p:nvPr/>
        </p:nvSpPr>
        <p:spPr>
          <a:xfrm>
            <a:off x="6096000" y="5619750"/>
            <a:ext cx="293370"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9CA3AF"/>
                </a:solidFill>
                <a:latin typeface="Roboto" pitchFamily="34" charset="0"/>
                <a:ea typeface="Roboto" pitchFamily="34" charset="-122"/>
                <a:cs typeface="Roboto" pitchFamily="34" charset="-120"/>
              </a:rPr>
              <a:t>2000</a:t>
            </a:r>
            <a:endParaRPr lang="en-US" sz="840" dirty="0"/>
          </a:p>
        </p:txBody>
      </p:sp>
      <p:sp>
        <p:nvSpPr>
          <p:cNvPr id="28" name="Text 11"/>
          <p:cNvSpPr/>
          <p:nvPr/>
        </p:nvSpPr>
        <p:spPr>
          <a:xfrm>
            <a:off x="8153400" y="5619750"/>
            <a:ext cx="293370"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9CA3AF"/>
                </a:solidFill>
                <a:latin typeface="Roboto" pitchFamily="34" charset="0"/>
                <a:ea typeface="Roboto" pitchFamily="34" charset="-122"/>
                <a:cs typeface="Roboto" pitchFamily="34" charset="-120"/>
              </a:rPr>
              <a:t>2010</a:t>
            </a:r>
            <a:endParaRPr lang="en-US" sz="84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2590800"/>
            <a:ext cx="3657600" cy="3238500"/>
          </a:xfrm>
          <a:prstGeom prst="rect">
            <a:avLst/>
          </a:prstGeom>
        </p:spPr>
      </p:pic>
      <p:pic>
        <p:nvPicPr>
          <p:cNvPr id="4" name="Image 2" descr="preencoded.png"/>
          <p:cNvPicPr>
            <a:picLocks noChangeAspect="1"/>
          </p:cNvPicPr>
          <p:nvPr/>
        </p:nvPicPr>
        <p:blipFill>
          <a:blip r:embed="rId5"/>
          <a:stretch>
            <a:fillRect/>
          </a:stretch>
        </p:blipFill>
        <p:spPr>
          <a:xfrm>
            <a:off x="2038350" y="2819400"/>
            <a:ext cx="342900" cy="381000"/>
          </a:xfrm>
          <a:prstGeom prst="rect">
            <a:avLst/>
          </a:prstGeom>
        </p:spPr>
      </p:pic>
      <p:pic>
        <p:nvPicPr>
          <p:cNvPr id="5" name="Image 3" descr="preencoded.png"/>
          <p:cNvPicPr>
            <a:picLocks noChangeAspect="1"/>
          </p:cNvPicPr>
          <p:nvPr/>
        </p:nvPicPr>
        <p:blipFill>
          <a:blip r:embed="rId6"/>
          <a:stretch>
            <a:fillRect/>
          </a:stretch>
        </p:blipFill>
        <p:spPr>
          <a:xfrm>
            <a:off x="4267200" y="2590800"/>
            <a:ext cx="3657600" cy="3238500"/>
          </a:xfrm>
          <a:prstGeom prst="rect">
            <a:avLst/>
          </a:prstGeom>
        </p:spPr>
      </p:pic>
      <p:pic>
        <p:nvPicPr>
          <p:cNvPr id="6" name="Image 4" descr="preencoded.png"/>
          <p:cNvPicPr>
            <a:picLocks noChangeAspect="1"/>
          </p:cNvPicPr>
          <p:nvPr/>
        </p:nvPicPr>
        <p:blipFill>
          <a:blip r:embed="rId7"/>
          <a:stretch>
            <a:fillRect/>
          </a:stretch>
        </p:blipFill>
        <p:spPr>
          <a:xfrm>
            <a:off x="5900738" y="2819400"/>
            <a:ext cx="390525" cy="381000"/>
          </a:xfrm>
          <a:prstGeom prst="rect">
            <a:avLst/>
          </a:prstGeom>
        </p:spPr>
      </p:pic>
      <p:pic>
        <p:nvPicPr>
          <p:cNvPr id="7" name="Image 5" descr="preencoded.png"/>
          <p:cNvPicPr>
            <a:picLocks noChangeAspect="1"/>
          </p:cNvPicPr>
          <p:nvPr/>
        </p:nvPicPr>
        <p:blipFill>
          <a:blip r:embed="rId6"/>
          <a:stretch>
            <a:fillRect/>
          </a:stretch>
        </p:blipFill>
        <p:spPr>
          <a:xfrm>
            <a:off x="8153400" y="2590800"/>
            <a:ext cx="3657600" cy="3238500"/>
          </a:xfrm>
          <a:prstGeom prst="rect">
            <a:avLst/>
          </a:prstGeom>
        </p:spPr>
      </p:pic>
      <p:pic>
        <p:nvPicPr>
          <p:cNvPr id="8" name="Image 6" descr="preencoded.png"/>
          <p:cNvPicPr>
            <a:picLocks noChangeAspect="1"/>
          </p:cNvPicPr>
          <p:nvPr/>
        </p:nvPicPr>
        <p:blipFill>
          <a:blip r:embed="rId8"/>
          <a:stretch>
            <a:fillRect/>
          </a:stretch>
        </p:blipFill>
        <p:spPr>
          <a:xfrm>
            <a:off x="9810750" y="2819400"/>
            <a:ext cx="342900" cy="381000"/>
          </a:xfrm>
          <a:prstGeom prst="rect">
            <a:avLst/>
          </a:prstGeom>
        </p:spPr>
      </p:pic>
      <p:sp>
        <p:nvSpPr>
          <p:cNvPr id="9"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Wprowadzenie do Ewolucji Komputerów</a:t>
            </a:r>
            <a:endParaRPr lang="en-US" sz="2170" dirty="0"/>
          </a:p>
        </p:txBody>
      </p:sp>
      <p:sp>
        <p:nvSpPr>
          <p:cNvPr id="10" name="Text 1"/>
          <p:cNvSpPr/>
          <p:nvPr/>
        </p:nvSpPr>
        <p:spPr>
          <a:xfrm>
            <a:off x="381000" y="1066800"/>
            <a:ext cx="11430000" cy="1219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Współczesny świat jest nierozerwalnie związany z technologią komputerową, która na przestrzeni ostatnich dekad przeszła rewolucyjną transformację. Od pierwszych, prymitywnych maszyn liczących po dzisiejsze, zaawansowane systemy, ewolucja komputerów jest świadectwem nieustannego dążenia do zwiększania mocy obliczeniowej, pojemności przechowywania danych i szybkości przetwarzania informacji.</a:t>
            </a:r>
            <a:endParaRPr lang="en-US" sz="1380" dirty="0"/>
          </a:p>
        </p:txBody>
      </p:sp>
      <p:sp>
        <p:nvSpPr>
          <p:cNvPr id="11" name="Text 2"/>
          <p:cNvSpPr/>
          <p:nvPr/>
        </p:nvSpPr>
        <p:spPr>
          <a:xfrm>
            <a:off x="1119976" y="3352800"/>
            <a:ext cx="2179647"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Moc Obliczeniowa</a:t>
            </a:r>
            <a:endParaRPr lang="en-US" sz="1646" dirty="0"/>
          </a:p>
        </p:txBody>
      </p:sp>
      <p:sp>
        <p:nvSpPr>
          <p:cNvPr id="12" name="Text 3"/>
          <p:cNvSpPr/>
          <p:nvPr/>
        </p:nvSpPr>
        <p:spPr>
          <a:xfrm>
            <a:off x="609600" y="3771900"/>
            <a:ext cx="3200400" cy="18288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Procesory centralne (CPU) napotkały wykładniczy wzrost mocy, z kilobitowych układów do współczesnych wielordzeniowych procesorów z miliardami tranzystorów.</a:t>
            </a:r>
            <a:endParaRPr lang="en-US" sz="1380" dirty="0"/>
          </a:p>
        </p:txBody>
      </p:sp>
      <p:sp>
        <p:nvSpPr>
          <p:cNvPr id="13" name="Text 4"/>
          <p:cNvSpPr/>
          <p:nvPr/>
        </p:nvSpPr>
        <p:spPr>
          <a:xfrm>
            <a:off x="4935781" y="3352800"/>
            <a:ext cx="2320439"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Pamięć Operacyjna</a:t>
            </a:r>
            <a:endParaRPr lang="en-US" sz="1646" dirty="0"/>
          </a:p>
        </p:txBody>
      </p:sp>
      <p:sp>
        <p:nvSpPr>
          <p:cNvPr id="14" name="Text 5"/>
          <p:cNvSpPr/>
          <p:nvPr/>
        </p:nvSpPr>
        <p:spPr>
          <a:xfrm>
            <a:off x="4495800" y="3771900"/>
            <a:ext cx="3200400" cy="15240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Pamięć RAM rosnąco przechowuje dane i instrukcje, umożliwiając szybkie dostęp do informacji. Wzrost pojemności z kilobajtów do dziesiątek gigabajtów.</a:t>
            </a:r>
            <a:endParaRPr lang="en-US" sz="1380" dirty="0"/>
          </a:p>
        </p:txBody>
      </p:sp>
      <p:sp>
        <p:nvSpPr>
          <p:cNvPr id="15" name="Text 6"/>
          <p:cNvSpPr/>
          <p:nvPr/>
        </p:nvSpPr>
        <p:spPr>
          <a:xfrm>
            <a:off x="9017779" y="3352800"/>
            <a:ext cx="1928842"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Pamięć Masowa</a:t>
            </a:r>
            <a:endParaRPr lang="en-US" sz="1646" dirty="0"/>
          </a:p>
        </p:txBody>
      </p:sp>
      <p:sp>
        <p:nvSpPr>
          <p:cNvPr id="16" name="Text 7"/>
          <p:cNvSpPr/>
          <p:nvPr/>
        </p:nvSpPr>
        <p:spPr>
          <a:xfrm>
            <a:off x="8382000" y="3771900"/>
            <a:ext cx="3200400" cy="12192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Nośniki danych ewoluowały od dysków magnetycznych do półprzewodników, z pojemności kilobajtów do terabajtów.</a:t>
            </a:r>
            <a:endParaRPr lang="en-US" sz="1380" dirty="0"/>
          </a:p>
        </p:txBody>
      </p:sp>
      <p:sp>
        <p:nvSpPr>
          <p:cNvPr id="17" name="Text 8"/>
          <p:cNvSpPr/>
          <p:nvPr/>
        </p:nvSpPr>
        <p:spPr>
          <a:xfrm>
            <a:off x="381000" y="6134100"/>
            <a:ext cx="11430000" cy="6096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Te fundamentalne komponenty systemu komputerowego napędzają innowacje w każdej dziedzinie życia, od prostych aplikacji do zaawansowanych systemów sztucznej inteligencji.</a:t>
            </a:r>
            <a:endParaRPr lang="en-US" sz="13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2171700"/>
            <a:ext cx="5600700" cy="1752600"/>
          </a:xfrm>
          <a:prstGeom prst="rect">
            <a:avLst/>
          </a:prstGeom>
        </p:spPr>
      </p:pic>
      <p:pic>
        <p:nvPicPr>
          <p:cNvPr id="4" name="Image 2" descr="preencoded.png"/>
          <p:cNvPicPr>
            <a:picLocks noChangeAspect="1"/>
          </p:cNvPicPr>
          <p:nvPr/>
        </p:nvPicPr>
        <p:blipFill>
          <a:blip r:embed="rId5"/>
          <a:stretch>
            <a:fillRect/>
          </a:stretch>
        </p:blipFill>
        <p:spPr>
          <a:xfrm>
            <a:off x="571500" y="2362200"/>
            <a:ext cx="285750" cy="342900"/>
          </a:xfrm>
          <a:prstGeom prst="rect">
            <a:avLst/>
          </a:prstGeom>
          <a:ln>
            <a:noFill/>
          </a:ln>
        </p:spPr>
      </p:pic>
      <p:pic>
        <p:nvPicPr>
          <p:cNvPr id="5" name="Image 3" descr="preencoded.png"/>
          <p:cNvPicPr>
            <a:picLocks noChangeAspect="1"/>
          </p:cNvPicPr>
          <p:nvPr/>
        </p:nvPicPr>
        <p:blipFill>
          <a:blip r:embed="rId4"/>
          <a:stretch>
            <a:fillRect/>
          </a:stretch>
        </p:blipFill>
        <p:spPr>
          <a:xfrm>
            <a:off x="6210300" y="2171700"/>
            <a:ext cx="5600700" cy="1752600"/>
          </a:xfrm>
          <a:prstGeom prst="rect">
            <a:avLst/>
          </a:prstGeom>
        </p:spPr>
      </p:pic>
      <p:pic>
        <p:nvPicPr>
          <p:cNvPr id="6" name="Image 4" descr="preencoded.png"/>
          <p:cNvPicPr>
            <a:picLocks noChangeAspect="1"/>
          </p:cNvPicPr>
          <p:nvPr/>
        </p:nvPicPr>
        <p:blipFill>
          <a:blip r:embed="rId6"/>
          <a:stretch>
            <a:fillRect/>
          </a:stretch>
        </p:blipFill>
        <p:spPr>
          <a:xfrm>
            <a:off x="6400800" y="2362200"/>
            <a:ext cx="247650" cy="342900"/>
          </a:xfrm>
          <a:prstGeom prst="rect">
            <a:avLst/>
          </a:prstGeom>
        </p:spPr>
      </p:pic>
      <p:pic>
        <p:nvPicPr>
          <p:cNvPr id="7" name="Image 5" descr="preencoded.png"/>
          <p:cNvPicPr>
            <a:picLocks noChangeAspect="1"/>
          </p:cNvPicPr>
          <p:nvPr/>
        </p:nvPicPr>
        <p:blipFill>
          <a:blip r:embed="rId7"/>
          <a:stretch>
            <a:fillRect/>
          </a:stretch>
        </p:blipFill>
        <p:spPr>
          <a:xfrm>
            <a:off x="381000" y="4610100"/>
            <a:ext cx="11430000" cy="457200"/>
          </a:xfrm>
          <a:prstGeom prst="rect">
            <a:avLst/>
          </a:prstGeom>
        </p:spPr>
      </p:pic>
      <p:pic>
        <p:nvPicPr>
          <p:cNvPr id="8" name="Image 6" descr="preencoded.png"/>
          <p:cNvPicPr>
            <a:picLocks noChangeAspect="1"/>
          </p:cNvPicPr>
          <p:nvPr/>
        </p:nvPicPr>
        <p:blipFill>
          <a:blip r:embed="rId8"/>
          <a:stretch>
            <a:fillRect/>
          </a:stretch>
        </p:blipFill>
        <p:spPr>
          <a:xfrm>
            <a:off x="381000" y="5067300"/>
            <a:ext cx="11430000" cy="457200"/>
          </a:xfrm>
          <a:prstGeom prst="rect">
            <a:avLst/>
          </a:prstGeom>
        </p:spPr>
      </p:pic>
      <p:pic>
        <p:nvPicPr>
          <p:cNvPr id="9" name="Image 7" descr="preencoded.png"/>
          <p:cNvPicPr>
            <a:picLocks noChangeAspect="1"/>
          </p:cNvPicPr>
          <p:nvPr/>
        </p:nvPicPr>
        <p:blipFill>
          <a:blip r:embed="rId9"/>
          <a:stretch>
            <a:fillRect/>
          </a:stretch>
        </p:blipFill>
        <p:spPr>
          <a:xfrm>
            <a:off x="381000" y="5524500"/>
            <a:ext cx="11430000" cy="457200"/>
          </a:xfrm>
          <a:prstGeom prst="rect">
            <a:avLst/>
          </a:prstGeom>
        </p:spPr>
      </p:pic>
      <p:pic>
        <p:nvPicPr>
          <p:cNvPr id="10" name="Image 8" descr="preencoded.png"/>
          <p:cNvPicPr>
            <a:picLocks noChangeAspect="1"/>
          </p:cNvPicPr>
          <p:nvPr/>
        </p:nvPicPr>
        <p:blipFill>
          <a:blip r:embed="rId10"/>
          <a:stretch>
            <a:fillRect/>
          </a:stretch>
        </p:blipFill>
        <p:spPr>
          <a:xfrm>
            <a:off x="381000" y="5981700"/>
            <a:ext cx="11430000" cy="457200"/>
          </a:xfrm>
          <a:prstGeom prst="rect">
            <a:avLst/>
          </a:prstGeom>
        </p:spPr>
      </p:pic>
      <p:sp>
        <p:nvSpPr>
          <p:cNvPr id="12" name="Text 0"/>
          <p:cNvSpPr/>
          <p:nvPr/>
        </p:nvSpPr>
        <p:spPr>
          <a:xfrm>
            <a:off x="1618673" y="685800"/>
            <a:ext cx="12573000" cy="506870"/>
          </a:xfrm>
          <a:prstGeom prst="rect">
            <a:avLst/>
          </a:prstGeom>
          <a:noFill/>
          <a:ln/>
        </p:spPr>
        <p:txBody>
          <a:bodyPr wrap="square" lIns="0" tIns="0" rIns="0" bIns="0" rtlCol="0" anchor="t">
            <a:spAutoFit/>
          </a:bodyPr>
          <a:lstStyle/>
          <a:p>
            <a:pPr marL="0" indent="0">
              <a:lnSpc>
                <a:spcPts val="3600"/>
              </a:lnSpc>
              <a:buNone/>
            </a:pPr>
            <a:r>
              <a:rPr lang="en-US" sz="4800" b="1" dirty="0">
                <a:solidFill>
                  <a:srgbClr val="00FFFF"/>
                </a:solidFill>
                <a:latin typeface="Roboto" pitchFamily="34" charset="0"/>
                <a:ea typeface="Roboto" pitchFamily="34" charset="-122"/>
                <a:cs typeface="Roboto" pitchFamily="34" charset="-120"/>
              </a:rPr>
              <a:t>Jednostki Zapisu Informacji</a:t>
            </a:r>
            <a:endParaRPr lang="en-US" sz="4800" dirty="0"/>
          </a:p>
        </p:txBody>
      </p:sp>
      <p:sp>
        <p:nvSpPr>
          <p:cNvPr id="14" name="Text 2"/>
          <p:cNvSpPr/>
          <p:nvPr/>
        </p:nvSpPr>
        <p:spPr>
          <a:xfrm>
            <a:off x="971550" y="2362200"/>
            <a:ext cx="335280"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Bit</a:t>
            </a:r>
            <a:endParaRPr lang="en-US" sz="1646" dirty="0"/>
          </a:p>
        </p:txBody>
      </p:sp>
      <p:sp>
        <p:nvSpPr>
          <p:cNvPr id="15" name="Text 3"/>
          <p:cNvSpPr/>
          <p:nvPr/>
        </p:nvSpPr>
        <p:spPr>
          <a:xfrm>
            <a:off x="571500" y="2819400"/>
            <a:ext cx="5219700" cy="9144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Podstawowa jednostka informacji, która może przyjąć wartość 0 lub 1. Analogicznie do włącznika światła, który jest albo włączony, albo wyłączony.</a:t>
            </a:r>
            <a:endParaRPr lang="en-US" sz="1380" dirty="0"/>
          </a:p>
        </p:txBody>
      </p:sp>
      <p:sp>
        <p:nvSpPr>
          <p:cNvPr id="16" name="Text 4"/>
          <p:cNvSpPr/>
          <p:nvPr/>
        </p:nvSpPr>
        <p:spPr>
          <a:xfrm>
            <a:off x="6762750" y="2362200"/>
            <a:ext cx="475089"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Bajt</a:t>
            </a:r>
            <a:endParaRPr lang="en-US" sz="1646" dirty="0"/>
          </a:p>
        </p:txBody>
      </p:sp>
      <p:sp>
        <p:nvSpPr>
          <p:cNvPr id="17" name="Text 5"/>
          <p:cNvSpPr/>
          <p:nvPr/>
        </p:nvSpPr>
        <p:spPr>
          <a:xfrm>
            <a:off x="6400800" y="2819400"/>
            <a:ext cx="5219700" cy="9144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Grupa z ośmiu bitów, która może zakodować 256 różnych wartości (2). Zdolna do reprezentowania pojedynczego znaku tekstowego zgodnie z standardami kodowania.</a:t>
            </a:r>
            <a:endParaRPr lang="en-US" sz="1380" dirty="0"/>
          </a:p>
        </p:txBody>
      </p:sp>
      <p:sp>
        <p:nvSpPr>
          <p:cNvPr id="18" name="Text 6"/>
          <p:cNvSpPr/>
          <p:nvPr/>
        </p:nvSpPr>
        <p:spPr>
          <a:xfrm>
            <a:off x="381000" y="4152900"/>
            <a:ext cx="12573000"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Porównanie Przedrostków</a:t>
            </a:r>
            <a:endParaRPr lang="en-US" sz="1646" dirty="0"/>
          </a:p>
        </p:txBody>
      </p:sp>
      <p:sp>
        <p:nvSpPr>
          <p:cNvPr id="19" name="Text 7"/>
          <p:cNvSpPr/>
          <p:nvPr/>
        </p:nvSpPr>
        <p:spPr>
          <a:xfrm>
            <a:off x="533400" y="4610100"/>
            <a:ext cx="3481804" cy="457200"/>
          </a:xfrm>
          <a:prstGeom prst="rect">
            <a:avLst/>
          </a:prstGeom>
          <a:noFill/>
          <a:ln/>
        </p:spPr>
        <p:txBody>
          <a:bodyPr wrap="square" lIns="0" tIns="0" rIns="0" bIns="0" rtlCol="0" anchor="t">
            <a:spAutoFit/>
          </a:bodyPr>
          <a:lstStyle/>
          <a:p>
            <a:pPr marL="0" indent="0" algn="l">
              <a:lnSpc>
                <a:spcPts val="1800"/>
              </a:lnSpc>
              <a:buNone/>
            </a:pPr>
            <a:r>
              <a:rPr lang="en-US" sz="1120" b="1" dirty="0">
                <a:solidFill>
                  <a:srgbClr val="FFFFFF"/>
                </a:solidFill>
                <a:latin typeface="Roboto" pitchFamily="34" charset="0"/>
                <a:ea typeface="Roboto" pitchFamily="34" charset="-122"/>
                <a:cs typeface="Roboto" pitchFamily="34" charset="-120"/>
              </a:rPr>
              <a:t>Przedrostek Dziesiętny (SI)</a:t>
            </a:r>
            <a:endParaRPr lang="en-US" sz="1120" dirty="0"/>
          </a:p>
        </p:txBody>
      </p:sp>
      <p:sp>
        <p:nvSpPr>
          <p:cNvPr id="20" name="Text 8"/>
          <p:cNvSpPr/>
          <p:nvPr/>
        </p:nvSpPr>
        <p:spPr>
          <a:xfrm>
            <a:off x="3698677" y="4610100"/>
            <a:ext cx="2883768" cy="457200"/>
          </a:xfrm>
          <a:prstGeom prst="rect">
            <a:avLst/>
          </a:prstGeom>
          <a:noFill/>
          <a:ln/>
        </p:spPr>
        <p:txBody>
          <a:bodyPr wrap="square" lIns="0" tIns="0" rIns="0" bIns="0" rtlCol="0" anchor="t">
            <a:spAutoFit/>
          </a:bodyPr>
          <a:lstStyle/>
          <a:p>
            <a:pPr marL="0" indent="0" algn="l">
              <a:lnSpc>
                <a:spcPts val="1800"/>
              </a:lnSpc>
              <a:buNone/>
            </a:pPr>
            <a:r>
              <a:rPr lang="en-US" sz="1120" b="1" dirty="0">
                <a:solidFill>
                  <a:srgbClr val="FFFFFF"/>
                </a:solidFill>
                <a:latin typeface="Roboto" pitchFamily="34" charset="0"/>
                <a:ea typeface="Roboto" pitchFamily="34" charset="-122"/>
                <a:cs typeface="Roboto" pitchFamily="34" charset="-120"/>
              </a:rPr>
              <a:t>Wartość (Bajtów)</a:t>
            </a:r>
            <a:endParaRPr lang="en-US" sz="1120" dirty="0"/>
          </a:p>
        </p:txBody>
      </p:sp>
      <p:sp>
        <p:nvSpPr>
          <p:cNvPr id="21" name="Text 9"/>
          <p:cNvSpPr/>
          <p:nvPr/>
        </p:nvSpPr>
        <p:spPr>
          <a:xfrm>
            <a:off x="6320284" y="4610100"/>
            <a:ext cx="3364260" cy="457200"/>
          </a:xfrm>
          <a:prstGeom prst="rect">
            <a:avLst/>
          </a:prstGeom>
          <a:noFill/>
          <a:ln/>
        </p:spPr>
        <p:txBody>
          <a:bodyPr wrap="square" lIns="0" tIns="0" rIns="0" bIns="0" rtlCol="0" anchor="t">
            <a:spAutoFit/>
          </a:bodyPr>
          <a:lstStyle/>
          <a:p>
            <a:pPr marL="0" indent="0" algn="l">
              <a:lnSpc>
                <a:spcPts val="1800"/>
              </a:lnSpc>
              <a:buNone/>
            </a:pPr>
            <a:r>
              <a:rPr lang="en-US" sz="1120" b="1" dirty="0">
                <a:solidFill>
                  <a:srgbClr val="FFFFFF"/>
                </a:solidFill>
                <a:latin typeface="Roboto" pitchFamily="34" charset="0"/>
                <a:ea typeface="Roboto" pitchFamily="34" charset="-122"/>
                <a:cs typeface="Roboto" pitchFamily="34" charset="-120"/>
              </a:rPr>
              <a:t>Przedrostek Binarny (IEC)</a:t>
            </a:r>
            <a:endParaRPr lang="en-US" sz="1120" dirty="0"/>
          </a:p>
        </p:txBody>
      </p:sp>
      <p:sp>
        <p:nvSpPr>
          <p:cNvPr id="22" name="Text 10"/>
          <p:cNvSpPr/>
          <p:nvPr/>
        </p:nvSpPr>
        <p:spPr>
          <a:xfrm>
            <a:off x="9378702" y="4610100"/>
            <a:ext cx="2843168" cy="457200"/>
          </a:xfrm>
          <a:prstGeom prst="rect">
            <a:avLst/>
          </a:prstGeom>
          <a:noFill/>
          <a:ln/>
        </p:spPr>
        <p:txBody>
          <a:bodyPr wrap="square" lIns="0" tIns="0" rIns="0" bIns="0" rtlCol="0" anchor="t">
            <a:spAutoFit/>
          </a:bodyPr>
          <a:lstStyle/>
          <a:p>
            <a:pPr marL="0" indent="0" algn="l">
              <a:lnSpc>
                <a:spcPts val="1800"/>
              </a:lnSpc>
              <a:buNone/>
            </a:pPr>
            <a:r>
              <a:rPr lang="en-US" sz="1120" b="1" dirty="0">
                <a:solidFill>
                  <a:srgbClr val="FFFFFF"/>
                </a:solidFill>
                <a:latin typeface="Roboto" pitchFamily="34" charset="0"/>
                <a:ea typeface="Roboto" pitchFamily="34" charset="-122"/>
                <a:cs typeface="Roboto" pitchFamily="34" charset="-120"/>
              </a:rPr>
              <a:t>Wartość (Bajtów)</a:t>
            </a:r>
            <a:endParaRPr lang="en-US" sz="1120" dirty="0"/>
          </a:p>
        </p:txBody>
      </p:sp>
      <p:sp>
        <p:nvSpPr>
          <p:cNvPr id="23" name="Text 11"/>
          <p:cNvSpPr/>
          <p:nvPr/>
        </p:nvSpPr>
        <p:spPr>
          <a:xfrm>
            <a:off x="533400" y="5067300"/>
            <a:ext cx="3481804"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Kilobajt (KB)</a:t>
            </a:r>
            <a:endParaRPr lang="en-US" sz="1380" dirty="0"/>
          </a:p>
        </p:txBody>
      </p:sp>
      <p:sp>
        <p:nvSpPr>
          <p:cNvPr id="24" name="Text 12"/>
          <p:cNvSpPr/>
          <p:nvPr/>
        </p:nvSpPr>
        <p:spPr>
          <a:xfrm>
            <a:off x="3698677" y="5067300"/>
            <a:ext cx="28837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10= 1000</a:t>
            </a:r>
            <a:endParaRPr lang="en-US" sz="1380" dirty="0"/>
          </a:p>
        </p:txBody>
      </p:sp>
      <p:sp>
        <p:nvSpPr>
          <p:cNvPr id="25" name="Text 13"/>
          <p:cNvSpPr/>
          <p:nvPr/>
        </p:nvSpPr>
        <p:spPr>
          <a:xfrm>
            <a:off x="6320284" y="5067300"/>
            <a:ext cx="3364260"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Kibibajt (KiB)</a:t>
            </a:r>
            <a:endParaRPr lang="en-US" sz="1380" dirty="0"/>
          </a:p>
        </p:txBody>
      </p:sp>
      <p:sp>
        <p:nvSpPr>
          <p:cNvPr id="26" name="Text 14"/>
          <p:cNvSpPr/>
          <p:nvPr/>
        </p:nvSpPr>
        <p:spPr>
          <a:xfrm>
            <a:off x="9378702" y="5067300"/>
            <a:ext cx="28431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2= 1024</a:t>
            </a:r>
            <a:endParaRPr lang="en-US" sz="1380" dirty="0"/>
          </a:p>
        </p:txBody>
      </p:sp>
      <p:sp>
        <p:nvSpPr>
          <p:cNvPr id="27" name="Text 15"/>
          <p:cNvSpPr/>
          <p:nvPr/>
        </p:nvSpPr>
        <p:spPr>
          <a:xfrm>
            <a:off x="533400" y="5524500"/>
            <a:ext cx="3481804"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Megabajt (MB)</a:t>
            </a:r>
            <a:endParaRPr lang="en-US" sz="1380" dirty="0"/>
          </a:p>
        </p:txBody>
      </p:sp>
      <p:sp>
        <p:nvSpPr>
          <p:cNvPr id="28" name="Text 16"/>
          <p:cNvSpPr/>
          <p:nvPr/>
        </p:nvSpPr>
        <p:spPr>
          <a:xfrm>
            <a:off x="3698677" y="5524500"/>
            <a:ext cx="28837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10= 1000000</a:t>
            </a:r>
            <a:endParaRPr lang="en-US" sz="1380" dirty="0"/>
          </a:p>
        </p:txBody>
      </p:sp>
      <p:sp>
        <p:nvSpPr>
          <p:cNvPr id="29" name="Text 17"/>
          <p:cNvSpPr/>
          <p:nvPr/>
        </p:nvSpPr>
        <p:spPr>
          <a:xfrm>
            <a:off x="6320284" y="5524500"/>
            <a:ext cx="3364260"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Mebibajt (MiB)</a:t>
            </a:r>
            <a:endParaRPr lang="en-US" sz="1380" dirty="0"/>
          </a:p>
        </p:txBody>
      </p:sp>
      <p:sp>
        <p:nvSpPr>
          <p:cNvPr id="30" name="Text 18"/>
          <p:cNvSpPr/>
          <p:nvPr/>
        </p:nvSpPr>
        <p:spPr>
          <a:xfrm>
            <a:off x="9378702" y="5524500"/>
            <a:ext cx="28431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2= 1048576</a:t>
            </a:r>
            <a:endParaRPr lang="en-US" sz="1380" dirty="0"/>
          </a:p>
        </p:txBody>
      </p:sp>
      <p:sp>
        <p:nvSpPr>
          <p:cNvPr id="31" name="Text 19"/>
          <p:cNvSpPr/>
          <p:nvPr/>
        </p:nvSpPr>
        <p:spPr>
          <a:xfrm>
            <a:off x="533400" y="5981700"/>
            <a:ext cx="3481804"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Gigabajt (GB)</a:t>
            </a:r>
            <a:endParaRPr lang="en-US" sz="1380" dirty="0"/>
          </a:p>
        </p:txBody>
      </p:sp>
      <p:sp>
        <p:nvSpPr>
          <p:cNvPr id="32" name="Text 20"/>
          <p:cNvSpPr/>
          <p:nvPr/>
        </p:nvSpPr>
        <p:spPr>
          <a:xfrm>
            <a:off x="3698677" y="5981700"/>
            <a:ext cx="28837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10= 1000000000</a:t>
            </a:r>
            <a:endParaRPr lang="en-US" sz="1380" dirty="0"/>
          </a:p>
        </p:txBody>
      </p:sp>
      <p:sp>
        <p:nvSpPr>
          <p:cNvPr id="33" name="Text 21"/>
          <p:cNvSpPr/>
          <p:nvPr/>
        </p:nvSpPr>
        <p:spPr>
          <a:xfrm>
            <a:off x="6320284" y="5981700"/>
            <a:ext cx="3364260" cy="4572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Gibibajt (GiB)</a:t>
            </a:r>
            <a:endParaRPr lang="en-US" sz="1380" dirty="0"/>
          </a:p>
        </p:txBody>
      </p:sp>
      <p:sp>
        <p:nvSpPr>
          <p:cNvPr id="34" name="Text 22"/>
          <p:cNvSpPr/>
          <p:nvPr/>
        </p:nvSpPr>
        <p:spPr>
          <a:xfrm>
            <a:off x="9378702" y="5981700"/>
            <a:ext cx="2843168" cy="457200"/>
          </a:xfrm>
          <a:prstGeom prst="rect">
            <a:avLst/>
          </a:prstGeom>
          <a:noFill/>
          <a:ln/>
        </p:spPr>
        <p:txBody>
          <a:bodyPr wrap="square" lIns="0" tIns="0" rIns="0" bIns="0" rtlCol="0" anchor="t"/>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2= 1073741824</a:t>
            </a:r>
            <a:endParaRPr lang="en-US" sz="13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505700"/>
          </a:xfrm>
          <a:prstGeom prst="rect">
            <a:avLst/>
          </a:prstGeom>
        </p:spPr>
      </p:pic>
      <p:pic>
        <p:nvPicPr>
          <p:cNvPr id="3" name="Image 1" descr="https://picture-search.skywork.ai/aippt/image/sheet/5c303681e7814d2f6ac9c7f02d8e1e58.jpg"/>
          <p:cNvPicPr>
            <a:picLocks noChangeAspect="1"/>
          </p:cNvPicPr>
          <p:nvPr/>
        </p:nvPicPr>
        <p:blipFill>
          <a:blip r:embed="rId4"/>
          <a:stretch>
            <a:fillRect/>
          </a:stretch>
        </p:blipFill>
        <p:spPr>
          <a:xfrm>
            <a:off x="990600" y="1914525"/>
            <a:ext cx="2438400" cy="1676400"/>
          </a:xfrm>
          <a:prstGeom prst="rect">
            <a:avLst/>
          </a:prstGeom>
        </p:spPr>
      </p:pic>
      <p:pic>
        <p:nvPicPr>
          <p:cNvPr id="4" name="Image 2" descr="preencoded.png"/>
          <p:cNvPicPr>
            <a:picLocks noChangeAspect="1"/>
          </p:cNvPicPr>
          <p:nvPr/>
        </p:nvPicPr>
        <p:blipFill>
          <a:blip r:embed="rId5"/>
          <a:stretch>
            <a:fillRect/>
          </a:stretch>
        </p:blipFill>
        <p:spPr>
          <a:xfrm>
            <a:off x="381000" y="3743325"/>
            <a:ext cx="3657600" cy="1485900"/>
          </a:xfrm>
          <a:prstGeom prst="rect">
            <a:avLst/>
          </a:prstGeom>
        </p:spPr>
      </p:pic>
      <p:pic>
        <p:nvPicPr>
          <p:cNvPr id="5" name="Image 3" descr="preencoded.png"/>
          <p:cNvPicPr>
            <a:picLocks noChangeAspect="1"/>
          </p:cNvPicPr>
          <p:nvPr/>
        </p:nvPicPr>
        <p:blipFill>
          <a:blip r:embed="rId6"/>
          <a:stretch>
            <a:fillRect/>
          </a:stretch>
        </p:blipFill>
        <p:spPr>
          <a:xfrm>
            <a:off x="4343400" y="1914525"/>
            <a:ext cx="7467600" cy="2819400"/>
          </a:xfrm>
          <a:prstGeom prst="rect">
            <a:avLst/>
          </a:prstGeom>
        </p:spPr>
      </p:pic>
      <p:pic>
        <p:nvPicPr>
          <p:cNvPr id="6" name="Image 4" descr="preencoded.png"/>
          <p:cNvPicPr>
            <a:picLocks noChangeAspect="1"/>
          </p:cNvPicPr>
          <p:nvPr/>
        </p:nvPicPr>
        <p:blipFill>
          <a:blip r:embed="rId7"/>
          <a:stretch>
            <a:fillRect/>
          </a:stretch>
        </p:blipFill>
        <p:spPr>
          <a:xfrm>
            <a:off x="4343400" y="1914525"/>
            <a:ext cx="7467600" cy="419100"/>
          </a:xfrm>
          <a:prstGeom prst="rect">
            <a:avLst/>
          </a:prstGeom>
        </p:spPr>
      </p:pic>
      <p:pic>
        <p:nvPicPr>
          <p:cNvPr id="7" name="Image 5" descr="preencoded.png"/>
          <p:cNvPicPr>
            <a:picLocks noChangeAspect="1"/>
          </p:cNvPicPr>
          <p:nvPr/>
        </p:nvPicPr>
        <p:blipFill>
          <a:blip r:embed="rId8"/>
          <a:stretch>
            <a:fillRect/>
          </a:stretch>
        </p:blipFill>
        <p:spPr>
          <a:xfrm>
            <a:off x="4343400" y="2333625"/>
            <a:ext cx="7467600" cy="342900"/>
          </a:xfrm>
          <a:prstGeom prst="rect">
            <a:avLst/>
          </a:prstGeom>
        </p:spPr>
      </p:pic>
      <p:pic>
        <p:nvPicPr>
          <p:cNvPr id="8" name="Image 6" descr="preencoded.png"/>
          <p:cNvPicPr>
            <a:picLocks noChangeAspect="1"/>
          </p:cNvPicPr>
          <p:nvPr/>
        </p:nvPicPr>
        <p:blipFill>
          <a:blip r:embed="rId9"/>
          <a:stretch>
            <a:fillRect/>
          </a:stretch>
        </p:blipFill>
        <p:spPr>
          <a:xfrm>
            <a:off x="4343400" y="2676525"/>
            <a:ext cx="7467600" cy="342900"/>
          </a:xfrm>
          <a:prstGeom prst="rect">
            <a:avLst/>
          </a:prstGeom>
        </p:spPr>
      </p:pic>
      <p:pic>
        <p:nvPicPr>
          <p:cNvPr id="9" name="Image 7" descr="preencoded.png"/>
          <p:cNvPicPr>
            <a:picLocks noChangeAspect="1"/>
          </p:cNvPicPr>
          <p:nvPr/>
        </p:nvPicPr>
        <p:blipFill>
          <a:blip r:embed="rId8"/>
          <a:stretch>
            <a:fillRect/>
          </a:stretch>
        </p:blipFill>
        <p:spPr>
          <a:xfrm>
            <a:off x="4343400" y="3019425"/>
            <a:ext cx="7467600" cy="342900"/>
          </a:xfrm>
          <a:prstGeom prst="rect">
            <a:avLst/>
          </a:prstGeom>
        </p:spPr>
      </p:pic>
      <p:pic>
        <p:nvPicPr>
          <p:cNvPr id="10" name="Image 8" descr="preencoded.png"/>
          <p:cNvPicPr>
            <a:picLocks noChangeAspect="1"/>
          </p:cNvPicPr>
          <p:nvPr/>
        </p:nvPicPr>
        <p:blipFill>
          <a:blip r:embed="rId9"/>
          <a:stretch>
            <a:fillRect/>
          </a:stretch>
        </p:blipFill>
        <p:spPr>
          <a:xfrm>
            <a:off x="4343400" y="3362325"/>
            <a:ext cx="7467600" cy="342900"/>
          </a:xfrm>
          <a:prstGeom prst="rect">
            <a:avLst/>
          </a:prstGeom>
        </p:spPr>
      </p:pic>
      <p:pic>
        <p:nvPicPr>
          <p:cNvPr id="11" name="Image 9" descr="preencoded.png"/>
          <p:cNvPicPr>
            <a:picLocks noChangeAspect="1"/>
          </p:cNvPicPr>
          <p:nvPr/>
        </p:nvPicPr>
        <p:blipFill>
          <a:blip r:embed="rId8"/>
          <a:stretch>
            <a:fillRect/>
          </a:stretch>
        </p:blipFill>
        <p:spPr>
          <a:xfrm>
            <a:off x="4343400" y="3705225"/>
            <a:ext cx="7467600" cy="342900"/>
          </a:xfrm>
          <a:prstGeom prst="rect">
            <a:avLst/>
          </a:prstGeom>
        </p:spPr>
      </p:pic>
      <p:pic>
        <p:nvPicPr>
          <p:cNvPr id="12" name="Image 10" descr="preencoded.png"/>
          <p:cNvPicPr>
            <a:picLocks noChangeAspect="1"/>
          </p:cNvPicPr>
          <p:nvPr/>
        </p:nvPicPr>
        <p:blipFill>
          <a:blip r:embed="rId9"/>
          <a:stretch>
            <a:fillRect/>
          </a:stretch>
        </p:blipFill>
        <p:spPr>
          <a:xfrm>
            <a:off x="4343400" y="4048125"/>
            <a:ext cx="7467600" cy="342900"/>
          </a:xfrm>
          <a:prstGeom prst="rect">
            <a:avLst/>
          </a:prstGeom>
        </p:spPr>
      </p:pic>
      <p:pic>
        <p:nvPicPr>
          <p:cNvPr id="13" name="Image 11" descr="preencoded.png"/>
          <p:cNvPicPr>
            <a:picLocks noChangeAspect="1"/>
          </p:cNvPicPr>
          <p:nvPr/>
        </p:nvPicPr>
        <p:blipFill>
          <a:blip r:embed="rId8"/>
          <a:stretch>
            <a:fillRect/>
          </a:stretch>
        </p:blipFill>
        <p:spPr>
          <a:xfrm>
            <a:off x="4343400" y="4391025"/>
            <a:ext cx="7467600" cy="342900"/>
          </a:xfrm>
          <a:prstGeom prst="rect">
            <a:avLst/>
          </a:prstGeom>
        </p:spPr>
      </p:pic>
      <p:sp>
        <p:nvSpPr>
          <p:cNvPr id="15"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Ewolucja Procesorów (CPU) - Wzrost Mocy Obliczeniowej</a:t>
            </a:r>
            <a:endParaRPr lang="en-US" sz="2170" dirty="0"/>
          </a:p>
        </p:txBody>
      </p:sp>
      <p:sp>
        <p:nvSpPr>
          <p:cNvPr id="16" name="Text 1"/>
          <p:cNvSpPr/>
          <p:nvPr/>
        </p:nvSpPr>
        <p:spPr>
          <a:xfrm>
            <a:off x="381000" y="990600"/>
            <a:ext cx="11430000" cy="771525"/>
          </a:xfrm>
          <a:prstGeom prst="rect">
            <a:avLst/>
          </a:prstGeom>
          <a:noFill/>
          <a:ln/>
        </p:spPr>
        <p:txBody>
          <a:bodyPr wrap="square" lIns="0" tIns="0" rIns="0" bIns="0" rtlCol="0" anchor="t">
            <a:spAutoFit/>
          </a:bodyPr>
          <a:lstStyle/>
          <a:p>
            <a:pPr marL="0" indent="0">
              <a:lnSpc>
                <a:spcPts val="2025"/>
              </a:lnSpc>
              <a:buNone/>
            </a:pPr>
            <a:r>
              <a:rPr lang="en-US" sz="1260" dirty="0">
                <a:solidFill>
                  <a:srgbClr val="FFFFFF"/>
                </a:solidFill>
                <a:latin typeface="Roboto" pitchFamily="34" charset="0"/>
                <a:ea typeface="Roboto" pitchFamily="34" charset="-122"/>
                <a:cs typeface="Roboto" pitchFamily="34" charset="-120"/>
              </a:rPr>
              <a:t>Początki ewolucji procesorów sięgają lat 70. XX wieku, kiedy pojawiły się pierwsze mikroprocesory. Kluczowym momentem było wprowadzenie na rynek w 1971 roku przez firmę Intel układu 4004. Od tego czasu mamy świadectwo wykładniczego wzrostu mocy obliczeniowej, napędzonego głównie przez Prawo Moore'a, które przewidywało podwajanie się liczby tranzystorów w układzie scalonym co około dwa lata.</a:t>
            </a:r>
            <a:endParaRPr lang="en-US" sz="1260" dirty="0"/>
          </a:p>
        </p:txBody>
      </p:sp>
      <p:sp>
        <p:nvSpPr>
          <p:cNvPr id="17" name="Text 2"/>
          <p:cNvSpPr/>
          <p:nvPr/>
        </p:nvSpPr>
        <p:spPr>
          <a:xfrm>
            <a:off x="533400" y="3895725"/>
            <a:ext cx="3688080"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67E8F9"/>
                </a:solidFill>
                <a:latin typeface="Roboto" pitchFamily="34" charset="0"/>
                <a:ea typeface="Roboto" pitchFamily="34" charset="-122"/>
                <a:cs typeface="Roboto" pitchFamily="34" charset="-120"/>
              </a:rPr>
              <a:t>Prawo Moore'a</a:t>
            </a:r>
            <a:endParaRPr lang="en-US" sz="1646" dirty="0"/>
          </a:p>
        </p:txBody>
      </p:sp>
      <p:sp>
        <p:nvSpPr>
          <p:cNvPr id="18" name="Text 3"/>
          <p:cNvSpPr/>
          <p:nvPr/>
        </p:nvSpPr>
        <p:spPr>
          <a:xfrm>
            <a:off x="533400" y="4314825"/>
            <a:ext cx="3352800" cy="7620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Przewidywało podwajanie się liczby tranzystorów w układzie scalonym co około dwa lata. Stało się samospełniającą się przepowiednią i motorem innowacji w branży półprzewodników.</a:t>
            </a:r>
            <a:endParaRPr lang="en-US" sz="980" dirty="0"/>
          </a:p>
        </p:txBody>
      </p:sp>
      <p:sp>
        <p:nvSpPr>
          <p:cNvPr id="19" name="Text 4"/>
          <p:cNvSpPr/>
          <p:nvPr/>
        </p:nvSpPr>
        <p:spPr>
          <a:xfrm>
            <a:off x="4495800" y="1914525"/>
            <a:ext cx="1919020" cy="419100"/>
          </a:xfrm>
          <a:prstGeom prst="rect">
            <a:avLst/>
          </a:prstGeom>
          <a:noFill/>
          <a:ln/>
        </p:spPr>
        <p:txBody>
          <a:bodyPr wrap="square" lIns="0" tIns="0" rIns="0" bIns="0" rtlCol="0" anchor="t">
            <a:spAutoFit/>
          </a:bodyPr>
          <a:lstStyle/>
          <a:p>
            <a:pPr marL="0" indent="0" algn="l">
              <a:lnSpc>
                <a:spcPts val="1500"/>
              </a:lnSpc>
              <a:buNone/>
            </a:pPr>
            <a:r>
              <a:rPr lang="en-US" sz="980" b="1" dirty="0">
                <a:solidFill>
                  <a:srgbClr val="FFFFFF"/>
                </a:solidFill>
                <a:latin typeface="Roboto" pitchFamily="34" charset="0"/>
                <a:ea typeface="Roboto" pitchFamily="34" charset="-122"/>
                <a:cs typeface="Roboto" pitchFamily="34" charset="-120"/>
              </a:rPr>
              <a:t>Procesor</a:t>
            </a:r>
            <a:endParaRPr lang="en-US" sz="980" dirty="0"/>
          </a:p>
        </p:txBody>
      </p:sp>
      <p:sp>
        <p:nvSpPr>
          <p:cNvPr id="20" name="Text 5"/>
          <p:cNvSpPr/>
          <p:nvPr/>
        </p:nvSpPr>
        <p:spPr>
          <a:xfrm>
            <a:off x="6240363" y="1914525"/>
            <a:ext cx="1890534" cy="419100"/>
          </a:xfrm>
          <a:prstGeom prst="rect">
            <a:avLst/>
          </a:prstGeom>
          <a:noFill/>
          <a:ln/>
        </p:spPr>
        <p:txBody>
          <a:bodyPr wrap="square" lIns="0" tIns="0" rIns="0" bIns="0" rtlCol="0" anchor="t">
            <a:spAutoFit/>
          </a:bodyPr>
          <a:lstStyle/>
          <a:p>
            <a:pPr marL="0" indent="0" algn="l">
              <a:lnSpc>
                <a:spcPts val="1500"/>
              </a:lnSpc>
              <a:buNone/>
            </a:pPr>
            <a:r>
              <a:rPr lang="en-US" sz="980" b="1" dirty="0">
                <a:solidFill>
                  <a:srgbClr val="FFFFFF"/>
                </a:solidFill>
                <a:latin typeface="Roboto" pitchFamily="34" charset="0"/>
                <a:ea typeface="Roboto" pitchFamily="34" charset="-122"/>
                <a:cs typeface="Roboto" pitchFamily="34" charset="-120"/>
              </a:rPr>
              <a:t>Rok wprowadzenia</a:t>
            </a:r>
            <a:endParaRPr lang="en-US" sz="980" dirty="0"/>
          </a:p>
        </p:txBody>
      </p:sp>
      <p:sp>
        <p:nvSpPr>
          <p:cNvPr id="21" name="Text 6"/>
          <p:cNvSpPr/>
          <p:nvPr/>
        </p:nvSpPr>
        <p:spPr>
          <a:xfrm>
            <a:off x="7959030" y="1914525"/>
            <a:ext cx="2411626" cy="419100"/>
          </a:xfrm>
          <a:prstGeom prst="rect">
            <a:avLst/>
          </a:prstGeom>
          <a:noFill/>
          <a:ln/>
        </p:spPr>
        <p:txBody>
          <a:bodyPr wrap="square" lIns="0" tIns="0" rIns="0" bIns="0" rtlCol="0" anchor="t">
            <a:spAutoFit/>
          </a:bodyPr>
          <a:lstStyle/>
          <a:p>
            <a:pPr marL="0" indent="0" algn="l">
              <a:lnSpc>
                <a:spcPts val="1500"/>
              </a:lnSpc>
              <a:buNone/>
            </a:pPr>
            <a:r>
              <a:rPr lang="en-US" sz="980" b="1" dirty="0">
                <a:solidFill>
                  <a:srgbClr val="FFFFFF"/>
                </a:solidFill>
                <a:latin typeface="Roboto" pitchFamily="34" charset="0"/>
                <a:ea typeface="Roboto" pitchFamily="34" charset="-122"/>
                <a:cs typeface="Roboto" pitchFamily="34" charset="-120"/>
              </a:rPr>
              <a:t>Częstotliwość taktowania</a:t>
            </a:r>
            <a:endParaRPr lang="en-US" sz="980" dirty="0"/>
          </a:p>
        </p:txBody>
      </p:sp>
      <p:sp>
        <p:nvSpPr>
          <p:cNvPr id="22" name="Text 7"/>
          <p:cNvSpPr/>
          <p:nvPr/>
        </p:nvSpPr>
        <p:spPr>
          <a:xfrm>
            <a:off x="10151418" y="1914525"/>
            <a:ext cx="1993181" cy="419100"/>
          </a:xfrm>
          <a:prstGeom prst="rect">
            <a:avLst/>
          </a:prstGeom>
          <a:noFill/>
          <a:ln/>
        </p:spPr>
        <p:txBody>
          <a:bodyPr wrap="square" lIns="0" tIns="0" rIns="0" bIns="0" rtlCol="0" anchor="t">
            <a:spAutoFit/>
          </a:bodyPr>
          <a:lstStyle/>
          <a:p>
            <a:pPr marL="0" indent="0" algn="l">
              <a:lnSpc>
                <a:spcPts val="1500"/>
              </a:lnSpc>
              <a:buNone/>
            </a:pPr>
            <a:r>
              <a:rPr lang="en-US" sz="980" b="1" dirty="0">
                <a:solidFill>
                  <a:srgbClr val="FFFFFF"/>
                </a:solidFill>
                <a:latin typeface="Roboto" pitchFamily="34" charset="0"/>
                <a:ea typeface="Roboto" pitchFamily="34" charset="-122"/>
                <a:cs typeface="Roboto" pitchFamily="34" charset="-120"/>
              </a:rPr>
              <a:t>Liczba tranzystorów</a:t>
            </a:r>
            <a:endParaRPr lang="en-US" sz="980" dirty="0"/>
          </a:p>
        </p:txBody>
      </p:sp>
      <p:sp>
        <p:nvSpPr>
          <p:cNvPr id="23" name="Text 8"/>
          <p:cNvSpPr/>
          <p:nvPr/>
        </p:nvSpPr>
        <p:spPr>
          <a:xfrm>
            <a:off x="4495800" y="23336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4004</a:t>
            </a:r>
            <a:endParaRPr lang="en-US" sz="980" dirty="0"/>
          </a:p>
        </p:txBody>
      </p:sp>
      <p:sp>
        <p:nvSpPr>
          <p:cNvPr id="24" name="Text 9"/>
          <p:cNvSpPr/>
          <p:nvPr/>
        </p:nvSpPr>
        <p:spPr>
          <a:xfrm>
            <a:off x="6240363" y="23336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1971</a:t>
            </a:r>
            <a:endParaRPr lang="en-US" sz="980" dirty="0"/>
          </a:p>
        </p:txBody>
      </p:sp>
      <p:sp>
        <p:nvSpPr>
          <p:cNvPr id="25" name="Text 10"/>
          <p:cNvSpPr/>
          <p:nvPr/>
        </p:nvSpPr>
        <p:spPr>
          <a:xfrm>
            <a:off x="7959030" y="23336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740 kHz</a:t>
            </a:r>
            <a:endParaRPr lang="en-US" sz="980" dirty="0"/>
          </a:p>
        </p:txBody>
      </p:sp>
      <p:sp>
        <p:nvSpPr>
          <p:cNvPr id="26" name="Text 11"/>
          <p:cNvSpPr/>
          <p:nvPr/>
        </p:nvSpPr>
        <p:spPr>
          <a:xfrm>
            <a:off x="10151418" y="23336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2 300</a:t>
            </a:r>
            <a:endParaRPr lang="en-US" sz="980" dirty="0"/>
          </a:p>
        </p:txBody>
      </p:sp>
      <p:sp>
        <p:nvSpPr>
          <p:cNvPr id="27" name="Text 12"/>
          <p:cNvSpPr/>
          <p:nvPr/>
        </p:nvSpPr>
        <p:spPr>
          <a:xfrm>
            <a:off x="4495800" y="26765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8086</a:t>
            </a:r>
            <a:endParaRPr lang="en-US" sz="980" dirty="0"/>
          </a:p>
        </p:txBody>
      </p:sp>
      <p:sp>
        <p:nvSpPr>
          <p:cNvPr id="28" name="Text 13"/>
          <p:cNvSpPr/>
          <p:nvPr/>
        </p:nvSpPr>
        <p:spPr>
          <a:xfrm>
            <a:off x="6240363" y="26765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1978</a:t>
            </a:r>
            <a:endParaRPr lang="en-US" sz="980" dirty="0"/>
          </a:p>
        </p:txBody>
      </p:sp>
      <p:sp>
        <p:nvSpPr>
          <p:cNvPr id="29" name="Text 14"/>
          <p:cNvSpPr/>
          <p:nvPr/>
        </p:nvSpPr>
        <p:spPr>
          <a:xfrm>
            <a:off x="7959030" y="26765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5-10 MHz</a:t>
            </a:r>
            <a:endParaRPr lang="en-US" sz="980" dirty="0"/>
          </a:p>
        </p:txBody>
      </p:sp>
      <p:sp>
        <p:nvSpPr>
          <p:cNvPr id="30" name="Text 15"/>
          <p:cNvSpPr/>
          <p:nvPr/>
        </p:nvSpPr>
        <p:spPr>
          <a:xfrm>
            <a:off x="10151418" y="26765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29 000</a:t>
            </a:r>
            <a:endParaRPr lang="en-US" sz="980" dirty="0"/>
          </a:p>
        </p:txBody>
      </p:sp>
      <p:sp>
        <p:nvSpPr>
          <p:cNvPr id="31" name="Text 16"/>
          <p:cNvSpPr/>
          <p:nvPr/>
        </p:nvSpPr>
        <p:spPr>
          <a:xfrm>
            <a:off x="4495800" y="30194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386</a:t>
            </a:r>
            <a:endParaRPr lang="en-US" sz="980" dirty="0"/>
          </a:p>
        </p:txBody>
      </p:sp>
      <p:sp>
        <p:nvSpPr>
          <p:cNvPr id="32" name="Text 17"/>
          <p:cNvSpPr/>
          <p:nvPr/>
        </p:nvSpPr>
        <p:spPr>
          <a:xfrm>
            <a:off x="6240363" y="30194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1985</a:t>
            </a:r>
            <a:endParaRPr lang="en-US" sz="980" dirty="0"/>
          </a:p>
        </p:txBody>
      </p:sp>
      <p:sp>
        <p:nvSpPr>
          <p:cNvPr id="33" name="Text 18"/>
          <p:cNvSpPr/>
          <p:nvPr/>
        </p:nvSpPr>
        <p:spPr>
          <a:xfrm>
            <a:off x="7959030" y="30194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16-33 MHz</a:t>
            </a:r>
            <a:endParaRPr lang="en-US" sz="980" dirty="0"/>
          </a:p>
        </p:txBody>
      </p:sp>
      <p:sp>
        <p:nvSpPr>
          <p:cNvPr id="34" name="Text 19"/>
          <p:cNvSpPr/>
          <p:nvPr/>
        </p:nvSpPr>
        <p:spPr>
          <a:xfrm>
            <a:off x="10151418" y="30194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275 000</a:t>
            </a:r>
            <a:endParaRPr lang="en-US" sz="980" dirty="0"/>
          </a:p>
        </p:txBody>
      </p:sp>
      <p:sp>
        <p:nvSpPr>
          <p:cNvPr id="35" name="Text 20"/>
          <p:cNvSpPr/>
          <p:nvPr/>
        </p:nvSpPr>
        <p:spPr>
          <a:xfrm>
            <a:off x="4495800" y="33623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Pentium</a:t>
            </a:r>
            <a:endParaRPr lang="en-US" sz="980" dirty="0"/>
          </a:p>
        </p:txBody>
      </p:sp>
      <p:sp>
        <p:nvSpPr>
          <p:cNvPr id="36" name="Text 21"/>
          <p:cNvSpPr/>
          <p:nvPr/>
        </p:nvSpPr>
        <p:spPr>
          <a:xfrm>
            <a:off x="6240363" y="33623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1993</a:t>
            </a:r>
            <a:endParaRPr lang="en-US" sz="980" dirty="0"/>
          </a:p>
        </p:txBody>
      </p:sp>
      <p:sp>
        <p:nvSpPr>
          <p:cNvPr id="37" name="Text 22"/>
          <p:cNvSpPr/>
          <p:nvPr/>
        </p:nvSpPr>
        <p:spPr>
          <a:xfrm>
            <a:off x="7959030" y="33623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60-300 MHz</a:t>
            </a:r>
            <a:endParaRPr lang="en-US" sz="980" dirty="0"/>
          </a:p>
        </p:txBody>
      </p:sp>
      <p:sp>
        <p:nvSpPr>
          <p:cNvPr id="38" name="Text 23"/>
          <p:cNvSpPr/>
          <p:nvPr/>
        </p:nvSpPr>
        <p:spPr>
          <a:xfrm>
            <a:off x="10151418" y="33623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3 100 000</a:t>
            </a:r>
            <a:endParaRPr lang="en-US" sz="980" dirty="0"/>
          </a:p>
        </p:txBody>
      </p:sp>
      <p:sp>
        <p:nvSpPr>
          <p:cNvPr id="39" name="Text 24"/>
          <p:cNvSpPr/>
          <p:nvPr/>
        </p:nvSpPr>
        <p:spPr>
          <a:xfrm>
            <a:off x="4495800" y="37052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Pentium 4</a:t>
            </a:r>
            <a:endParaRPr lang="en-US" sz="980" dirty="0"/>
          </a:p>
        </p:txBody>
      </p:sp>
      <p:sp>
        <p:nvSpPr>
          <p:cNvPr id="40" name="Text 25"/>
          <p:cNvSpPr/>
          <p:nvPr/>
        </p:nvSpPr>
        <p:spPr>
          <a:xfrm>
            <a:off x="6240363" y="37052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2000</a:t>
            </a:r>
            <a:endParaRPr lang="en-US" sz="980" dirty="0"/>
          </a:p>
        </p:txBody>
      </p:sp>
      <p:sp>
        <p:nvSpPr>
          <p:cNvPr id="41" name="Text 26"/>
          <p:cNvSpPr/>
          <p:nvPr/>
        </p:nvSpPr>
        <p:spPr>
          <a:xfrm>
            <a:off x="7959030" y="37052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1.3-3.8 GHz</a:t>
            </a:r>
            <a:endParaRPr lang="en-US" sz="980" dirty="0"/>
          </a:p>
        </p:txBody>
      </p:sp>
      <p:sp>
        <p:nvSpPr>
          <p:cNvPr id="42" name="Text 27"/>
          <p:cNvSpPr/>
          <p:nvPr/>
        </p:nvSpPr>
        <p:spPr>
          <a:xfrm>
            <a:off x="10151418" y="37052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42 000 000</a:t>
            </a:r>
            <a:endParaRPr lang="en-US" sz="980" dirty="0"/>
          </a:p>
        </p:txBody>
      </p:sp>
      <p:sp>
        <p:nvSpPr>
          <p:cNvPr id="43" name="Text 28"/>
          <p:cNvSpPr/>
          <p:nvPr/>
        </p:nvSpPr>
        <p:spPr>
          <a:xfrm>
            <a:off x="4495800" y="40481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Core i7 (1. gen)</a:t>
            </a:r>
            <a:endParaRPr lang="en-US" sz="980" dirty="0"/>
          </a:p>
        </p:txBody>
      </p:sp>
      <p:sp>
        <p:nvSpPr>
          <p:cNvPr id="44" name="Text 29"/>
          <p:cNvSpPr/>
          <p:nvPr/>
        </p:nvSpPr>
        <p:spPr>
          <a:xfrm>
            <a:off x="6240363" y="40481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2008</a:t>
            </a:r>
            <a:endParaRPr lang="en-US" sz="980" dirty="0"/>
          </a:p>
        </p:txBody>
      </p:sp>
      <p:sp>
        <p:nvSpPr>
          <p:cNvPr id="45" name="Text 30"/>
          <p:cNvSpPr/>
          <p:nvPr/>
        </p:nvSpPr>
        <p:spPr>
          <a:xfrm>
            <a:off x="7959030" y="40481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2.66-3.2 GHz</a:t>
            </a:r>
            <a:endParaRPr lang="en-US" sz="980" dirty="0"/>
          </a:p>
        </p:txBody>
      </p:sp>
      <p:sp>
        <p:nvSpPr>
          <p:cNvPr id="46" name="Text 31"/>
          <p:cNvSpPr/>
          <p:nvPr/>
        </p:nvSpPr>
        <p:spPr>
          <a:xfrm>
            <a:off x="10151418" y="40481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731 000 000</a:t>
            </a:r>
            <a:endParaRPr lang="en-US" sz="980" dirty="0"/>
          </a:p>
        </p:txBody>
      </p:sp>
      <p:sp>
        <p:nvSpPr>
          <p:cNvPr id="47" name="Text 32"/>
          <p:cNvSpPr/>
          <p:nvPr/>
        </p:nvSpPr>
        <p:spPr>
          <a:xfrm>
            <a:off x="4495800" y="4391025"/>
            <a:ext cx="1919020"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Intel Core i9-13900K</a:t>
            </a:r>
            <a:endParaRPr lang="en-US" sz="980" dirty="0"/>
          </a:p>
        </p:txBody>
      </p:sp>
      <p:sp>
        <p:nvSpPr>
          <p:cNvPr id="48" name="Text 33"/>
          <p:cNvSpPr/>
          <p:nvPr/>
        </p:nvSpPr>
        <p:spPr>
          <a:xfrm>
            <a:off x="6240363" y="4391025"/>
            <a:ext cx="1890534"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2022</a:t>
            </a:r>
            <a:endParaRPr lang="en-US" sz="980" dirty="0"/>
          </a:p>
        </p:txBody>
      </p:sp>
      <p:sp>
        <p:nvSpPr>
          <p:cNvPr id="49" name="Text 34"/>
          <p:cNvSpPr/>
          <p:nvPr/>
        </p:nvSpPr>
        <p:spPr>
          <a:xfrm>
            <a:off x="7959030" y="4391025"/>
            <a:ext cx="2411626"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do 5.8 GHz</a:t>
            </a:r>
            <a:endParaRPr lang="en-US" sz="980" dirty="0"/>
          </a:p>
        </p:txBody>
      </p:sp>
      <p:sp>
        <p:nvSpPr>
          <p:cNvPr id="50" name="Text 35"/>
          <p:cNvSpPr/>
          <p:nvPr/>
        </p:nvSpPr>
        <p:spPr>
          <a:xfrm>
            <a:off x="10151418" y="4391025"/>
            <a:ext cx="1993181" cy="3429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~100 000 000 000</a:t>
            </a:r>
            <a:endParaRPr lang="en-US" sz="980" dirty="0"/>
          </a:p>
        </p:txBody>
      </p:sp>
      <p:pic>
        <p:nvPicPr>
          <p:cNvPr id="55" name="Obraz 54" descr="Obraz zawierający zrzut ekranu, linia, Wykres, tekst&#10;&#10;Zawartość wygenerowana przez AI może być niepoprawna.">
            <a:extLst>
              <a:ext uri="{FF2B5EF4-FFF2-40B4-BE49-F238E27FC236}">
                <a16:creationId xmlns:a16="http://schemas.microsoft.com/office/drawing/2014/main" id="{28BB3B53-EF33-4EF4-B9C8-88C86899B084}"/>
              </a:ext>
            </a:extLst>
          </p:cNvPr>
          <p:cNvPicPr>
            <a:picLocks noChangeAspect="1"/>
          </p:cNvPicPr>
          <p:nvPr/>
        </p:nvPicPr>
        <p:blipFill>
          <a:blip r:embed="rId10"/>
          <a:stretch>
            <a:fillRect/>
          </a:stretch>
        </p:blipFill>
        <p:spPr>
          <a:xfrm>
            <a:off x="-47401" y="5343525"/>
            <a:ext cx="12192000" cy="177240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9525"/>
          </a:xfrm>
          <a:prstGeom prst="rect">
            <a:avLst/>
          </a:prstGeom>
        </p:spPr>
      </p:pic>
      <p:pic>
        <p:nvPicPr>
          <p:cNvPr id="3" name="Image 1" descr="preencoded.png"/>
          <p:cNvPicPr>
            <a:picLocks noChangeAspect="1"/>
          </p:cNvPicPr>
          <p:nvPr/>
        </p:nvPicPr>
        <p:blipFill>
          <a:blip r:embed="rId4"/>
          <a:stretch>
            <a:fillRect/>
          </a:stretch>
        </p:blipFill>
        <p:spPr>
          <a:xfrm>
            <a:off x="4316760" y="2209800"/>
            <a:ext cx="476250" cy="476250"/>
          </a:xfrm>
          <a:prstGeom prst="rect">
            <a:avLst/>
          </a:prstGeom>
        </p:spPr>
      </p:pic>
      <p:pic>
        <p:nvPicPr>
          <p:cNvPr id="4" name="Image 2" descr="preencoded.png"/>
          <p:cNvPicPr>
            <a:picLocks noChangeAspect="1"/>
          </p:cNvPicPr>
          <p:nvPr/>
        </p:nvPicPr>
        <p:blipFill>
          <a:blip r:embed="rId5"/>
          <a:stretch>
            <a:fillRect/>
          </a:stretch>
        </p:blipFill>
        <p:spPr>
          <a:xfrm>
            <a:off x="6379815" y="2209800"/>
            <a:ext cx="476250" cy="476250"/>
          </a:xfrm>
          <a:prstGeom prst="rect">
            <a:avLst/>
          </a:prstGeom>
        </p:spPr>
      </p:pic>
      <p:pic>
        <p:nvPicPr>
          <p:cNvPr id="5" name="Image 3" descr="preencoded.png"/>
          <p:cNvPicPr>
            <a:picLocks noChangeAspect="1"/>
          </p:cNvPicPr>
          <p:nvPr/>
        </p:nvPicPr>
        <p:blipFill>
          <a:blip r:embed="rId6"/>
          <a:stretch>
            <a:fillRect/>
          </a:stretch>
        </p:blipFill>
        <p:spPr>
          <a:xfrm>
            <a:off x="6932265" y="2209800"/>
            <a:ext cx="476250" cy="476250"/>
          </a:xfrm>
          <a:prstGeom prst="rect">
            <a:avLst/>
          </a:prstGeom>
        </p:spPr>
      </p:pic>
      <p:pic>
        <p:nvPicPr>
          <p:cNvPr id="6" name="Image 4" descr="preencoded.png"/>
          <p:cNvPicPr>
            <a:picLocks noChangeAspect="1"/>
          </p:cNvPicPr>
          <p:nvPr/>
        </p:nvPicPr>
        <p:blipFill>
          <a:blip r:embed="rId7"/>
          <a:stretch>
            <a:fillRect/>
          </a:stretch>
        </p:blipFill>
        <p:spPr>
          <a:xfrm>
            <a:off x="7599015" y="2447925"/>
            <a:ext cx="567630" cy="533400"/>
          </a:xfrm>
          <a:prstGeom prst="rect">
            <a:avLst/>
          </a:prstGeom>
        </p:spPr>
      </p:pic>
      <p:pic>
        <p:nvPicPr>
          <p:cNvPr id="7" name="Image 5" descr="preencoded.png"/>
          <p:cNvPicPr>
            <a:picLocks noChangeAspect="1"/>
          </p:cNvPicPr>
          <p:nvPr/>
        </p:nvPicPr>
        <p:blipFill>
          <a:blip r:embed="rId8"/>
          <a:stretch>
            <a:fillRect/>
          </a:stretch>
        </p:blipFill>
        <p:spPr>
          <a:xfrm>
            <a:off x="381000" y="3524250"/>
            <a:ext cx="5600700" cy="2362200"/>
          </a:xfrm>
          <a:prstGeom prst="rect">
            <a:avLst/>
          </a:prstGeom>
        </p:spPr>
      </p:pic>
      <p:pic>
        <p:nvPicPr>
          <p:cNvPr id="8" name="Image 6" descr="preencoded.png"/>
          <p:cNvPicPr>
            <a:picLocks noChangeAspect="1"/>
          </p:cNvPicPr>
          <p:nvPr/>
        </p:nvPicPr>
        <p:blipFill>
          <a:blip r:embed="rId9"/>
          <a:stretch>
            <a:fillRect/>
          </a:stretch>
        </p:blipFill>
        <p:spPr>
          <a:xfrm>
            <a:off x="571500" y="3733800"/>
            <a:ext cx="228600" cy="304800"/>
          </a:xfrm>
          <a:prstGeom prst="rect">
            <a:avLst/>
          </a:prstGeom>
        </p:spPr>
      </p:pic>
      <p:pic>
        <p:nvPicPr>
          <p:cNvPr id="9" name="Image 7" descr="preencoded.png"/>
          <p:cNvPicPr>
            <a:picLocks noChangeAspect="1"/>
          </p:cNvPicPr>
          <p:nvPr/>
        </p:nvPicPr>
        <p:blipFill>
          <a:blip r:embed="rId10"/>
          <a:stretch>
            <a:fillRect/>
          </a:stretch>
        </p:blipFill>
        <p:spPr>
          <a:xfrm>
            <a:off x="6210300" y="3524250"/>
            <a:ext cx="5600700" cy="2362200"/>
          </a:xfrm>
          <a:prstGeom prst="rect">
            <a:avLst/>
          </a:prstGeom>
        </p:spPr>
      </p:pic>
      <p:pic>
        <p:nvPicPr>
          <p:cNvPr id="10" name="Image 8" descr="preencoded.png"/>
          <p:cNvPicPr>
            <a:picLocks noChangeAspect="1"/>
          </p:cNvPicPr>
          <p:nvPr/>
        </p:nvPicPr>
        <p:blipFill>
          <a:blip r:embed="rId11"/>
          <a:stretch>
            <a:fillRect/>
          </a:stretch>
        </p:blipFill>
        <p:spPr>
          <a:xfrm>
            <a:off x="6400800" y="3733800"/>
            <a:ext cx="257175" cy="304800"/>
          </a:xfrm>
          <a:prstGeom prst="rect">
            <a:avLst/>
          </a:prstGeom>
        </p:spPr>
      </p:pic>
      <p:pic>
        <p:nvPicPr>
          <p:cNvPr id="11" name="Image 9" descr="https://picture-search.skywork.ai/aippt/image/sheet/349e65f283910a12b8e985d4140c0853.jpg"/>
          <p:cNvPicPr>
            <a:picLocks noChangeAspect="1"/>
          </p:cNvPicPr>
          <p:nvPr/>
        </p:nvPicPr>
        <p:blipFill>
          <a:blip r:embed="rId12"/>
          <a:stretch>
            <a:fillRect/>
          </a:stretch>
        </p:blipFill>
        <p:spPr>
          <a:xfrm>
            <a:off x="9982200" y="4572000"/>
            <a:ext cx="1828800" cy="1371600"/>
          </a:xfrm>
          <a:prstGeom prst="rect">
            <a:avLst/>
          </a:prstGeom>
        </p:spPr>
      </p:pic>
      <p:sp>
        <p:nvSpPr>
          <p:cNvPr id="12"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Era Wielordzeniowości</a:t>
            </a:r>
            <a:endParaRPr lang="en-US" sz="2170" dirty="0"/>
          </a:p>
        </p:txBody>
      </p:sp>
      <p:sp>
        <p:nvSpPr>
          <p:cNvPr id="13" name="Text 1"/>
          <p:cNvSpPr/>
          <p:nvPr/>
        </p:nvSpPr>
        <p:spPr>
          <a:xfrm>
            <a:off x="381000" y="1066800"/>
            <a:ext cx="11430000" cy="9144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Wzrost częstotliwości taktowania procesorów napotkał na fizyczne bariery, takie jak rosnące zużycie energii i problemy z odprowadzaniem ciepła. W odpowiedzi na te wyzwania, branża komputerowa zaczęła szukać alternatywnych sposobów zwiększania wydajności.</a:t>
            </a:r>
            <a:endParaRPr lang="en-US" sz="1380" dirty="0"/>
          </a:p>
        </p:txBody>
      </p:sp>
      <p:sp>
        <p:nvSpPr>
          <p:cNvPr id="14" name="Text 2"/>
          <p:cNvSpPr/>
          <p:nvPr/>
        </p:nvSpPr>
        <p:spPr>
          <a:xfrm>
            <a:off x="4512469" y="2209800"/>
            <a:ext cx="523875" cy="47625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1</a:t>
            </a:r>
            <a:endParaRPr lang="en-US" sz="1120" dirty="0"/>
          </a:p>
        </p:txBody>
      </p:sp>
      <p:sp>
        <p:nvSpPr>
          <p:cNvPr id="15" name="Text 3"/>
          <p:cNvSpPr/>
          <p:nvPr/>
        </p:nvSpPr>
        <p:spPr>
          <a:xfrm>
            <a:off x="4025354" y="2762250"/>
            <a:ext cx="1059061" cy="457200"/>
          </a:xfrm>
          <a:prstGeom prst="rect">
            <a:avLst/>
          </a:prstGeom>
          <a:noFill/>
          <a:ln/>
        </p:spPr>
        <p:txBody>
          <a:bodyPr wrap="square" lIns="0" tIns="0" rIns="0" bIns="0" rtlCol="0" anchor="t"/>
          <a:lstStyle/>
          <a:p>
            <a:pPr marL="0" indent="0" algn="ctr">
              <a:lnSpc>
                <a:spcPts val="1800"/>
              </a:lnSpc>
              <a:buNone/>
            </a:pPr>
            <a:r>
              <a:rPr lang="en-US" sz="1120" dirty="0">
                <a:solidFill>
                  <a:srgbClr val="FFFFFF"/>
                </a:solidFill>
                <a:latin typeface="Roboto" pitchFamily="34" charset="0"/>
                <a:ea typeface="Roboto" pitchFamily="34" charset="-122"/>
                <a:cs typeface="Roboto" pitchFamily="34" charset="-120"/>
              </a:rPr>
              <a:t>Procesorjednordzeniowy</a:t>
            </a:r>
            <a:endParaRPr lang="en-US" sz="1120" dirty="0"/>
          </a:p>
        </p:txBody>
      </p:sp>
      <p:sp>
        <p:nvSpPr>
          <p:cNvPr id="16" name="Text 4"/>
          <p:cNvSpPr/>
          <p:nvPr/>
        </p:nvSpPr>
        <p:spPr>
          <a:xfrm>
            <a:off x="6575524" y="2209800"/>
            <a:ext cx="523875" cy="47625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1</a:t>
            </a:r>
            <a:endParaRPr lang="en-US" sz="1120" dirty="0"/>
          </a:p>
        </p:txBody>
      </p:sp>
      <p:sp>
        <p:nvSpPr>
          <p:cNvPr id="17" name="Text 5"/>
          <p:cNvSpPr/>
          <p:nvPr/>
        </p:nvSpPr>
        <p:spPr>
          <a:xfrm>
            <a:off x="7127974" y="2209800"/>
            <a:ext cx="523875" cy="47625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2</a:t>
            </a:r>
            <a:endParaRPr lang="en-US" sz="1120" dirty="0"/>
          </a:p>
        </p:txBody>
      </p:sp>
      <p:sp>
        <p:nvSpPr>
          <p:cNvPr id="18" name="Text 6"/>
          <p:cNvSpPr/>
          <p:nvPr/>
        </p:nvSpPr>
        <p:spPr>
          <a:xfrm>
            <a:off x="6377434" y="2762250"/>
            <a:ext cx="1033462" cy="457200"/>
          </a:xfrm>
          <a:prstGeom prst="rect">
            <a:avLst/>
          </a:prstGeom>
          <a:noFill/>
          <a:ln/>
        </p:spPr>
        <p:txBody>
          <a:bodyPr wrap="square" lIns="0" tIns="0" rIns="0" bIns="0" rtlCol="0" anchor="t"/>
          <a:lstStyle/>
          <a:p>
            <a:pPr marL="0" indent="0" algn="ctr">
              <a:lnSpc>
                <a:spcPts val="1800"/>
              </a:lnSpc>
              <a:buNone/>
            </a:pPr>
            <a:r>
              <a:rPr lang="en-US" sz="1120" dirty="0">
                <a:solidFill>
                  <a:srgbClr val="FFFFFF"/>
                </a:solidFill>
                <a:latin typeface="Roboto" pitchFamily="34" charset="0"/>
                <a:ea typeface="Roboto" pitchFamily="34" charset="-122"/>
                <a:cs typeface="Roboto" pitchFamily="34" charset="-120"/>
              </a:rPr>
              <a:t>Procesorwielordzeniowy</a:t>
            </a:r>
            <a:endParaRPr lang="en-US" sz="1120" dirty="0"/>
          </a:p>
        </p:txBody>
      </p:sp>
      <p:sp>
        <p:nvSpPr>
          <p:cNvPr id="19" name="Text 7"/>
          <p:cNvSpPr/>
          <p:nvPr/>
        </p:nvSpPr>
        <p:spPr>
          <a:xfrm>
            <a:off x="7713315" y="2486025"/>
            <a:ext cx="339030" cy="457200"/>
          </a:xfrm>
          <a:prstGeom prst="rect">
            <a:avLst/>
          </a:prstGeom>
          <a:noFill/>
          <a:ln/>
        </p:spPr>
        <p:txBody>
          <a:bodyPr wrap="square" lIns="0" tIns="0" rIns="0" bIns="0" rtlCol="0" anchor="t"/>
          <a:lstStyle/>
          <a:p>
            <a:pPr marL="0" indent="0" algn="ctr">
              <a:lnSpc>
                <a:spcPts val="1800"/>
              </a:lnSpc>
              <a:buNone/>
            </a:pPr>
            <a:r>
              <a:rPr lang="en-US" sz="1120" dirty="0">
                <a:solidFill>
                  <a:srgbClr val="FFFFFF"/>
                </a:solidFill>
                <a:latin typeface="Roboto" pitchFamily="34" charset="0"/>
                <a:ea typeface="Roboto" pitchFamily="34" charset="-122"/>
                <a:cs typeface="Roboto" pitchFamily="34" charset="-120"/>
              </a:rPr>
              <a:t>2005roku</a:t>
            </a:r>
            <a:endParaRPr lang="en-US" sz="1120" dirty="0"/>
          </a:p>
        </p:txBody>
      </p:sp>
      <p:sp>
        <p:nvSpPr>
          <p:cNvPr id="20" name="Text 8"/>
          <p:cNvSpPr/>
          <p:nvPr/>
        </p:nvSpPr>
        <p:spPr>
          <a:xfrm>
            <a:off x="914400" y="3714750"/>
            <a:ext cx="2233345"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Wielozadaniowość</a:t>
            </a:r>
            <a:endParaRPr lang="en-US" sz="1646" dirty="0"/>
          </a:p>
        </p:txBody>
      </p:sp>
      <p:sp>
        <p:nvSpPr>
          <p:cNvPr id="21" name="Text 9"/>
          <p:cNvSpPr/>
          <p:nvPr/>
        </p:nvSpPr>
        <p:spPr>
          <a:xfrm>
            <a:off x="571500" y="4171950"/>
            <a:ext cx="5219700" cy="15240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Znacząco poprawiła się zdolność komputerów do wielozadaniowości. Użytkownicy mogli jednocześnie uruchamiać wiele aplikacji, takich jak przeglądarka internetowa, edytor tekstu i odtwarzacz muzyki, bez znaczącego spadku wydajności.</a:t>
            </a:r>
            <a:endParaRPr lang="en-US" sz="1380" dirty="0"/>
          </a:p>
        </p:txBody>
      </p:sp>
      <p:sp>
        <p:nvSpPr>
          <p:cNvPr id="22" name="Text 10"/>
          <p:cNvSpPr/>
          <p:nvPr/>
        </p:nvSpPr>
        <p:spPr>
          <a:xfrm>
            <a:off x="6772275" y="3714750"/>
            <a:ext cx="1844204"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Zrównoleglenie</a:t>
            </a:r>
            <a:endParaRPr lang="en-US" sz="1646" dirty="0"/>
          </a:p>
        </p:txBody>
      </p:sp>
      <p:sp>
        <p:nvSpPr>
          <p:cNvPr id="23" name="Text 11"/>
          <p:cNvSpPr/>
          <p:nvPr/>
        </p:nvSpPr>
        <p:spPr>
          <a:xfrm>
            <a:off x="6400800" y="4171950"/>
            <a:ext cx="5219700" cy="9144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Architektura wielordzeniowa okazała się kluczowa dla aplikacji, które mogą być zrównoleglone, czyli podzielone na mniejsze, niezależne zadania wykonywane jednocześnie.</a:t>
            </a:r>
            <a:endParaRPr lang="en-US" sz="1380" dirty="0"/>
          </a:p>
        </p:txBody>
      </p:sp>
      <p:sp>
        <p:nvSpPr>
          <p:cNvPr id="24" name="Text 12"/>
          <p:cNvSpPr/>
          <p:nvPr/>
        </p:nvSpPr>
        <p:spPr>
          <a:xfrm>
            <a:off x="381000" y="6115050"/>
            <a:ext cx="11430000" cy="609600"/>
          </a:xfrm>
          <a:prstGeom prst="rect">
            <a:avLst/>
          </a:prstGeom>
          <a:noFill/>
          <a:ln/>
        </p:spPr>
        <p:txBody>
          <a:bodyPr wrap="square" lIns="0" tIns="0" rIns="0" bIns="0" rtlCol="0" anchor="t"/>
          <a:lstStyle/>
          <a:p>
            <a:pPr marL="0" indent="0">
              <a:lnSpc>
                <a:spcPts val="2400"/>
              </a:lnSpc>
              <a:buNone/>
            </a:pPr>
            <a:r>
              <a:rPr lang="en-US" sz="1380" b="1" dirty="0">
                <a:solidFill>
                  <a:srgbClr val="FFFFFF"/>
                </a:solidFill>
                <a:latin typeface="Roboto" pitchFamily="34" charset="0"/>
                <a:ea typeface="Roboto" pitchFamily="34" charset="-122"/>
                <a:cs typeface="Roboto" pitchFamily="34" charset="-120"/>
              </a:rPr>
              <a:t>Przykłady aplikacji zrównoleglonych:</a:t>
            </a:r>
            <a:r>
              <a:rPr lang="en-US" sz="1380" dirty="0">
                <a:solidFill>
                  <a:srgbClr val="FFFFFF"/>
                </a:solidFill>
                <a:latin typeface="Roboto" pitchFamily="34" charset="0"/>
                <a:ea typeface="Roboto" pitchFamily="34" charset="-122"/>
                <a:cs typeface="Roboto" pitchFamily="34" charset="-120"/>
              </a:rPr>
              <a:t>Programy do edycji wideo, renderowania grafiki 3D, symulacji naukowych czy obliczeń inżynierskich.</a:t>
            </a:r>
            <a:endParaRPr lang="en-US" sz="13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1752600"/>
            <a:ext cx="11430000" cy="2381250"/>
          </a:xfrm>
          <a:prstGeom prst="rect">
            <a:avLst/>
          </a:prstGeom>
        </p:spPr>
      </p:pic>
      <p:pic>
        <p:nvPicPr>
          <p:cNvPr id="4" name="Image 2" descr="preencoded.png"/>
          <p:cNvPicPr>
            <a:picLocks noChangeAspect="1"/>
          </p:cNvPicPr>
          <p:nvPr/>
        </p:nvPicPr>
        <p:blipFill>
          <a:blip r:embed="rId5"/>
          <a:stretch>
            <a:fillRect/>
          </a:stretch>
        </p:blipFill>
        <p:spPr>
          <a:xfrm>
            <a:off x="381000" y="4286250"/>
            <a:ext cx="5600700" cy="1638300"/>
          </a:xfrm>
          <a:prstGeom prst="rect">
            <a:avLst/>
          </a:prstGeom>
        </p:spPr>
      </p:pic>
      <p:pic>
        <p:nvPicPr>
          <p:cNvPr id="5" name="Image 3" descr="preencoded.png"/>
          <p:cNvPicPr>
            <a:picLocks noChangeAspect="1"/>
          </p:cNvPicPr>
          <p:nvPr/>
        </p:nvPicPr>
        <p:blipFill>
          <a:blip r:embed="rId6"/>
          <a:stretch>
            <a:fillRect/>
          </a:stretch>
        </p:blipFill>
        <p:spPr>
          <a:xfrm>
            <a:off x="533400" y="4457700"/>
            <a:ext cx="228600" cy="304800"/>
          </a:xfrm>
          <a:prstGeom prst="rect">
            <a:avLst/>
          </a:prstGeom>
        </p:spPr>
      </p:pic>
      <p:pic>
        <p:nvPicPr>
          <p:cNvPr id="6" name="Image 4" descr="preencoded.png"/>
          <p:cNvPicPr>
            <a:picLocks noChangeAspect="1"/>
          </p:cNvPicPr>
          <p:nvPr/>
        </p:nvPicPr>
        <p:blipFill>
          <a:blip r:embed="rId5"/>
          <a:stretch>
            <a:fillRect/>
          </a:stretch>
        </p:blipFill>
        <p:spPr>
          <a:xfrm>
            <a:off x="6210300" y="4286250"/>
            <a:ext cx="5600700" cy="1638300"/>
          </a:xfrm>
          <a:prstGeom prst="rect">
            <a:avLst/>
          </a:prstGeom>
        </p:spPr>
      </p:pic>
      <p:pic>
        <p:nvPicPr>
          <p:cNvPr id="7" name="Image 5" descr="preencoded.png"/>
          <p:cNvPicPr>
            <a:picLocks noChangeAspect="1"/>
          </p:cNvPicPr>
          <p:nvPr/>
        </p:nvPicPr>
        <p:blipFill>
          <a:blip r:embed="rId7"/>
          <a:stretch>
            <a:fillRect/>
          </a:stretch>
        </p:blipFill>
        <p:spPr>
          <a:xfrm>
            <a:off x="6362700" y="4457700"/>
            <a:ext cx="285750" cy="304800"/>
          </a:xfrm>
          <a:prstGeom prst="rect">
            <a:avLst/>
          </a:prstGeom>
        </p:spPr>
      </p:pic>
      <p:pic>
        <p:nvPicPr>
          <p:cNvPr id="8" name="Image 6" descr="preencoded.png"/>
          <p:cNvPicPr>
            <a:picLocks noChangeAspect="1"/>
          </p:cNvPicPr>
          <p:nvPr/>
        </p:nvPicPr>
        <p:blipFill>
          <a:blip r:embed="rId8"/>
          <a:stretch>
            <a:fillRect/>
          </a:stretch>
        </p:blipFill>
        <p:spPr>
          <a:xfrm>
            <a:off x="2893291" y="6096000"/>
            <a:ext cx="5600700" cy="1409700"/>
          </a:xfrm>
          <a:prstGeom prst="rect">
            <a:avLst/>
          </a:prstGeom>
        </p:spPr>
      </p:pic>
      <p:sp>
        <p:nvSpPr>
          <p:cNvPr id="12"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Rewolucja w Pamięci RAM - Skok Pojemnościowy</a:t>
            </a:r>
            <a:endParaRPr lang="en-US" sz="2170" dirty="0"/>
          </a:p>
        </p:txBody>
      </p:sp>
      <p:sp>
        <p:nvSpPr>
          <p:cNvPr id="13" name="Text 1"/>
          <p:cNvSpPr/>
          <p:nvPr/>
        </p:nvSpPr>
        <p:spPr>
          <a:xfrm>
            <a:off x="381000" y="990600"/>
            <a:ext cx="11430000" cy="6096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Ewolucja pojemności pamięci RAM w komputerach osobistych to historia wykładniczego wzrostu, który fundamentalnie zmienił możliwości oprogramowania i doświadczenia użytkowników. Kazda dekada przyniosała znaczące zwiększenie dostępnej pamięci.</a:t>
            </a:r>
            <a:endParaRPr lang="en-US" sz="1380" dirty="0"/>
          </a:p>
        </p:txBody>
      </p:sp>
      <p:sp>
        <p:nvSpPr>
          <p:cNvPr id="14" name="Text 2"/>
          <p:cNvSpPr/>
          <p:nvPr/>
        </p:nvSpPr>
        <p:spPr>
          <a:xfrm>
            <a:off x="876300" y="4438650"/>
            <a:ext cx="3155692"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Lepsza Wielozadaniowość</a:t>
            </a:r>
            <a:endParaRPr lang="en-US" sz="1646" dirty="0"/>
          </a:p>
        </p:txBody>
      </p:sp>
      <p:sp>
        <p:nvSpPr>
          <p:cNvPr id="15" name="Text 3"/>
          <p:cNvSpPr/>
          <p:nvPr/>
        </p:nvSpPr>
        <p:spPr>
          <a:xfrm>
            <a:off x="533400" y="4857750"/>
            <a:ext cx="5295900" cy="6096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Większa ilość RAM pozwala na jednocześnie uruchamianie większej liczby aplikacji bez spowolnienia systemu.</a:t>
            </a:r>
            <a:endParaRPr lang="en-US" sz="1380" dirty="0"/>
          </a:p>
        </p:txBody>
      </p:sp>
      <p:sp>
        <p:nvSpPr>
          <p:cNvPr id="16" name="Text 4"/>
          <p:cNvSpPr/>
          <p:nvPr/>
        </p:nvSpPr>
        <p:spPr>
          <a:xfrm>
            <a:off x="6762750" y="4438650"/>
            <a:ext cx="3162732"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Bardziej Złożone Aplikacje</a:t>
            </a:r>
            <a:endParaRPr lang="en-US" sz="1646" dirty="0"/>
          </a:p>
        </p:txBody>
      </p:sp>
      <p:sp>
        <p:nvSpPr>
          <p:cNvPr id="17" name="Text 5"/>
          <p:cNvSpPr/>
          <p:nvPr/>
        </p:nvSpPr>
        <p:spPr>
          <a:xfrm>
            <a:off x="6362700" y="4857750"/>
            <a:ext cx="5295900" cy="9144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Większa pamięć umożliwia tworzenie oprogramowania z bogatszymi funkcjami, większymi bazami danych i bardziej zaawansowaną grafiką.</a:t>
            </a:r>
            <a:endParaRPr lang="en-US" sz="1380" dirty="0"/>
          </a:p>
        </p:txBody>
      </p:sp>
      <p:sp>
        <p:nvSpPr>
          <p:cNvPr id="18" name="Text 6"/>
          <p:cNvSpPr/>
          <p:nvPr/>
        </p:nvSpPr>
        <p:spPr>
          <a:xfrm>
            <a:off x="4031992" y="6140450"/>
            <a:ext cx="3717548"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Szybsze Przetwarzanie Danych</a:t>
            </a:r>
            <a:endParaRPr lang="en-US" sz="1646" dirty="0"/>
          </a:p>
        </p:txBody>
      </p:sp>
      <p:sp>
        <p:nvSpPr>
          <p:cNvPr id="19" name="Text 7"/>
          <p:cNvSpPr/>
          <p:nvPr/>
        </p:nvSpPr>
        <p:spPr>
          <a:xfrm>
            <a:off x="3048216" y="6689725"/>
            <a:ext cx="5295900" cy="6096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Większe zestawy danych mogą być ładowane bezpośrednio do pamięci RAM, co znacznie przyspiesza operacje.</a:t>
            </a:r>
            <a:endParaRPr lang="en-US" sz="13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6858000"/>
          </a:xfrm>
          <a:prstGeom prst="rect">
            <a:avLst/>
          </a:prstGeom>
        </p:spPr>
      </p:pic>
      <p:pic>
        <p:nvPicPr>
          <p:cNvPr id="3" name="Image 1" descr="preencoded.png"/>
          <p:cNvPicPr>
            <a:picLocks noChangeAspect="1"/>
          </p:cNvPicPr>
          <p:nvPr/>
        </p:nvPicPr>
        <p:blipFill>
          <a:blip r:embed="rId4"/>
          <a:stretch>
            <a:fillRect/>
          </a:stretch>
        </p:blipFill>
        <p:spPr>
          <a:xfrm>
            <a:off x="381000" y="2305050"/>
            <a:ext cx="2330500" cy="1600200"/>
          </a:xfrm>
          <a:prstGeom prst="rect">
            <a:avLst/>
          </a:prstGeom>
        </p:spPr>
      </p:pic>
      <p:pic>
        <p:nvPicPr>
          <p:cNvPr id="4" name="Image 2" descr="preencoded.png"/>
          <p:cNvPicPr>
            <a:picLocks noChangeAspect="1"/>
          </p:cNvPicPr>
          <p:nvPr/>
        </p:nvPicPr>
        <p:blipFill>
          <a:blip r:embed="rId5"/>
          <a:stretch>
            <a:fillRect/>
          </a:stretch>
        </p:blipFill>
        <p:spPr>
          <a:xfrm>
            <a:off x="533400" y="2514600"/>
            <a:ext cx="171450" cy="152400"/>
          </a:xfrm>
          <a:prstGeom prst="rect">
            <a:avLst/>
          </a:prstGeom>
        </p:spPr>
      </p:pic>
      <p:pic>
        <p:nvPicPr>
          <p:cNvPr id="5" name="Image 3" descr="preencoded.png"/>
          <p:cNvPicPr>
            <a:picLocks noChangeAspect="1"/>
          </p:cNvPicPr>
          <p:nvPr/>
        </p:nvPicPr>
        <p:blipFill>
          <a:blip r:embed="rId6"/>
          <a:stretch>
            <a:fillRect/>
          </a:stretch>
        </p:blipFill>
        <p:spPr>
          <a:xfrm>
            <a:off x="2711500" y="2971800"/>
            <a:ext cx="200025" cy="228600"/>
          </a:xfrm>
          <a:prstGeom prst="rect">
            <a:avLst/>
          </a:prstGeom>
        </p:spPr>
      </p:pic>
      <p:pic>
        <p:nvPicPr>
          <p:cNvPr id="6" name="Image 4" descr="preencoded.png"/>
          <p:cNvPicPr>
            <a:picLocks noChangeAspect="1"/>
          </p:cNvPicPr>
          <p:nvPr/>
        </p:nvPicPr>
        <p:blipFill>
          <a:blip r:embed="rId7"/>
          <a:stretch>
            <a:fillRect/>
          </a:stretch>
        </p:blipFill>
        <p:spPr>
          <a:xfrm>
            <a:off x="2911525" y="2305050"/>
            <a:ext cx="2330500" cy="1600200"/>
          </a:xfrm>
          <a:prstGeom prst="rect">
            <a:avLst/>
          </a:prstGeom>
        </p:spPr>
      </p:pic>
      <p:pic>
        <p:nvPicPr>
          <p:cNvPr id="7" name="Image 5" descr="preencoded.png"/>
          <p:cNvPicPr>
            <a:picLocks noChangeAspect="1"/>
          </p:cNvPicPr>
          <p:nvPr/>
        </p:nvPicPr>
        <p:blipFill>
          <a:blip r:embed="rId8"/>
          <a:stretch>
            <a:fillRect/>
          </a:stretch>
        </p:blipFill>
        <p:spPr>
          <a:xfrm>
            <a:off x="3063925" y="2514600"/>
            <a:ext cx="152400" cy="152400"/>
          </a:xfrm>
          <a:prstGeom prst="rect">
            <a:avLst/>
          </a:prstGeom>
        </p:spPr>
      </p:pic>
      <p:pic>
        <p:nvPicPr>
          <p:cNvPr id="8" name="Image 6" descr="preencoded.png"/>
          <p:cNvPicPr>
            <a:picLocks noChangeAspect="1"/>
          </p:cNvPicPr>
          <p:nvPr/>
        </p:nvPicPr>
        <p:blipFill>
          <a:blip r:embed="rId9"/>
          <a:stretch>
            <a:fillRect/>
          </a:stretch>
        </p:blipFill>
        <p:spPr>
          <a:xfrm>
            <a:off x="5242024" y="2971800"/>
            <a:ext cx="200025" cy="228600"/>
          </a:xfrm>
          <a:prstGeom prst="rect">
            <a:avLst/>
          </a:prstGeom>
        </p:spPr>
      </p:pic>
      <p:pic>
        <p:nvPicPr>
          <p:cNvPr id="9" name="Image 7" descr="preencoded.png"/>
          <p:cNvPicPr>
            <a:picLocks noChangeAspect="1"/>
          </p:cNvPicPr>
          <p:nvPr/>
        </p:nvPicPr>
        <p:blipFill>
          <a:blip r:embed="rId10"/>
          <a:stretch>
            <a:fillRect/>
          </a:stretch>
        </p:blipFill>
        <p:spPr>
          <a:xfrm>
            <a:off x="5442049" y="2209800"/>
            <a:ext cx="2330500" cy="1790700"/>
          </a:xfrm>
          <a:prstGeom prst="rect">
            <a:avLst/>
          </a:prstGeom>
        </p:spPr>
      </p:pic>
      <p:pic>
        <p:nvPicPr>
          <p:cNvPr id="10" name="Image 8" descr="preencoded.png"/>
          <p:cNvPicPr>
            <a:picLocks noChangeAspect="1"/>
          </p:cNvPicPr>
          <p:nvPr/>
        </p:nvPicPr>
        <p:blipFill>
          <a:blip r:embed="rId11"/>
          <a:stretch>
            <a:fillRect/>
          </a:stretch>
        </p:blipFill>
        <p:spPr>
          <a:xfrm>
            <a:off x="5594449" y="2419350"/>
            <a:ext cx="114300" cy="152400"/>
          </a:xfrm>
          <a:prstGeom prst="rect">
            <a:avLst/>
          </a:prstGeom>
        </p:spPr>
      </p:pic>
      <p:pic>
        <p:nvPicPr>
          <p:cNvPr id="11" name="Image 9" descr="preencoded.png"/>
          <p:cNvPicPr>
            <a:picLocks noChangeAspect="1"/>
          </p:cNvPicPr>
          <p:nvPr/>
        </p:nvPicPr>
        <p:blipFill>
          <a:blip r:embed="rId12"/>
          <a:stretch>
            <a:fillRect/>
          </a:stretch>
        </p:blipFill>
        <p:spPr>
          <a:xfrm>
            <a:off x="381000" y="4229100"/>
            <a:ext cx="7391400" cy="1562100"/>
          </a:xfrm>
          <a:prstGeom prst="rect">
            <a:avLst/>
          </a:prstGeom>
        </p:spPr>
      </p:pic>
      <p:pic>
        <p:nvPicPr>
          <p:cNvPr id="12" name="Image 10" descr="preencoded.png"/>
          <p:cNvPicPr>
            <a:picLocks noChangeAspect="1"/>
          </p:cNvPicPr>
          <p:nvPr/>
        </p:nvPicPr>
        <p:blipFill>
          <a:blip r:embed="rId13"/>
          <a:stretch>
            <a:fillRect/>
          </a:stretch>
        </p:blipFill>
        <p:spPr>
          <a:xfrm>
            <a:off x="571500" y="4838700"/>
            <a:ext cx="171450" cy="152400"/>
          </a:xfrm>
          <a:prstGeom prst="rect">
            <a:avLst/>
          </a:prstGeom>
        </p:spPr>
      </p:pic>
      <p:pic>
        <p:nvPicPr>
          <p:cNvPr id="13" name="Image 11" descr="preencoded.png"/>
          <p:cNvPicPr>
            <a:picLocks noChangeAspect="1"/>
          </p:cNvPicPr>
          <p:nvPr/>
        </p:nvPicPr>
        <p:blipFill>
          <a:blip r:embed="rId14"/>
          <a:stretch>
            <a:fillRect/>
          </a:stretch>
        </p:blipFill>
        <p:spPr>
          <a:xfrm>
            <a:off x="2959001" y="4838700"/>
            <a:ext cx="171450" cy="152400"/>
          </a:xfrm>
          <a:prstGeom prst="rect">
            <a:avLst/>
          </a:prstGeom>
        </p:spPr>
      </p:pic>
      <p:pic>
        <p:nvPicPr>
          <p:cNvPr id="14" name="Image 12" descr="preencoded.png"/>
          <p:cNvPicPr>
            <a:picLocks noChangeAspect="1"/>
          </p:cNvPicPr>
          <p:nvPr/>
        </p:nvPicPr>
        <p:blipFill>
          <a:blip r:embed="rId15"/>
          <a:stretch>
            <a:fillRect/>
          </a:stretch>
        </p:blipFill>
        <p:spPr>
          <a:xfrm>
            <a:off x="5346650" y="4838700"/>
            <a:ext cx="152400" cy="152400"/>
          </a:xfrm>
          <a:prstGeom prst="rect">
            <a:avLst/>
          </a:prstGeom>
        </p:spPr>
      </p:pic>
      <p:pic>
        <p:nvPicPr>
          <p:cNvPr id="15" name="Image 13" descr="https://picture-search.skywork.ai/aippt/image/sheet/555e3dd48b4396d4ffbd4b78d64c8fb9.jpg"/>
          <p:cNvPicPr>
            <a:picLocks noChangeAspect="1"/>
          </p:cNvPicPr>
          <p:nvPr/>
        </p:nvPicPr>
        <p:blipFill>
          <a:blip r:embed="rId16"/>
          <a:stretch>
            <a:fillRect/>
          </a:stretch>
        </p:blipFill>
        <p:spPr>
          <a:xfrm>
            <a:off x="8280350" y="2909888"/>
            <a:ext cx="3251150" cy="2438251"/>
          </a:xfrm>
          <a:prstGeom prst="rect">
            <a:avLst/>
          </a:prstGeom>
        </p:spPr>
      </p:pic>
      <p:sp>
        <p:nvSpPr>
          <p:cNvPr id="16"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Rozwój Technologii Pamięci RAM</a:t>
            </a:r>
            <a:endParaRPr lang="en-US" sz="2170" dirty="0"/>
          </a:p>
        </p:txBody>
      </p:sp>
      <p:sp>
        <p:nvSpPr>
          <p:cNvPr id="17" name="Text 1"/>
          <p:cNvSpPr/>
          <p:nvPr/>
        </p:nvSpPr>
        <p:spPr>
          <a:xfrm>
            <a:off x="381000" y="1066800"/>
            <a:ext cx="11430000" cy="9144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Ewolucja pamięci RAM to nie tylko wzrost pojemności, ale także ciągłe doskonalenie technologii, które zwiększały szybkość, efektywność energetyczną i niezawodność. Od dynamicznej pamięci RAM (DRAM) po synchroniczną DRAM (SDRAM) i jej kolejne generacje (DDR), każda nowa technologia wniosała znaczące ulepszenia.</a:t>
            </a:r>
            <a:endParaRPr lang="en-US" sz="1380" dirty="0"/>
          </a:p>
        </p:txBody>
      </p:sp>
      <p:sp>
        <p:nvSpPr>
          <p:cNvPr id="18" name="Text 2"/>
          <p:cNvSpPr/>
          <p:nvPr/>
        </p:nvSpPr>
        <p:spPr>
          <a:xfrm>
            <a:off x="781050" y="2457450"/>
            <a:ext cx="628650"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FFFFFF"/>
                </a:solidFill>
                <a:latin typeface="Roboto" pitchFamily="34" charset="0"/>
                <a:ea typeface="Roboto" pitchFamily="34" charset="-122"/>
                <a:cs typeface="Roboto" pitchFamily="34" charset="-120"/>
              </a:rPr>
              <a:t>DRAM</a:t>
            </a:r>
            <a:endParaRPr lang="en-US" sz="1380" dirty="0"/>
          </a:p>
        </p:txBody>
      </p:sp>
      <p:sp>
        <p:nvSpPr>
          <p:cNvPr id="19" name="Text 3"/>
          <p:cNvSpPr/>
          <p:nvPr/>
        </p:nvSpPr>
        <p:spPr>
          <a:xfrm>
            <a:off x="533400" y="2800350"/>
            <a:ext cx="2025700" cy="9525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Podstawowa forma pamięci RAM, która wymaga ciągłego odświeżania, aby utrzymać dane. Była powszechna w starszych komputerach.</a:t>
            </a:r>
            <a:endParaRPr lang="en-US" sz="980" dirty="0"/>
          </a:p>
        </p:txBody>
      </p:sp>
      <p:sp>
        <p:nvSpPr>
          <p:cNvPr id="20" name="Text 4"/>
          <p:cNvSpPr/>
          <p:nvPr/>
        </p:nvSpPr>
        <p:spPr>
          <a:xfrm>
            <a:off x="3292525" y="2457450"/>
            <a:ext cx="768459"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FFFFFF"/>
                </a:solidFill>
                <a:latin typeface="Roboto" pitchFamily="34" charset="0"/>
                <a:ea typeface="Roboto" pitchFamily="34" charset="-122"/>
                <a:cs typeface="Roboto" pitchFamily="34" charset="-120"/>
              </a:rPr>
              <a:t>SDRAM</a:t>
            </a:r>
            <a:endParaRPr lang="en-US" sz="1380" dirty="0"/>
          </a:p>
        </p:txBody>
      </p:sp>
      <p:sp>
        <p:nvSpPr>
          <p:cNvPr id="21" name="Text 5"/>
          <p:cNvSpPr/>
          <p:nvPr/>
        </p:nvSpPr>
        <p:spPr>
          <a:xfrm>
            <a:off x="3063925" y="2800350"/>
            <a:ext cx="2025700" cy="9525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Wprowadzona w połowie lat 90., synchronizuje swoje działanie z zegarem systemowym procesora. Typowa częstotliwość taktowania wynosiła od 66 MHz do 133 MHz.</a:t>
            </a:r>
            <a:endParaRPr lang="en-US" sz="980" dirty="0"/>
          </a:p>
        </p:txBody>
      </p:sp>
      <p:sp>
        <p:nvSpPr>
          <p:cNvPr id="22" name="Text 6"/>
          <p:cNvSpPr/>
          <p:nvPr/>
        </p:nvSpPr>
        <p:spPr>
          <a:xfrm>
            <a:off x="5784949" y="2362200"/>
            <a:ext cx="1280547"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FFFFFF"/>
                </a:solidFill>
                <a:latin typeface="Roboto" pitchFamily="34" charset="0"/>
                <a:ea typeface="Roboto" pitchFamily="34" charset="-122"/>
                <a:cs typeface="Roboto" pitchFamily="34" charset="-120"/>
              </a:rPr>
              <a:t>DDR SDRAM</a:t>
            </a:r>
            <a:endParaRPr lang="en-US" sz="1380" dirty="0"/>
          </a:p>
        </p:txBody>
      </p:sp>
      <p:sp>
        <p:nvSpPr>
          <p:cNvPr id="23" name="Text 7"/>
          <p:cNvSpPr/>
          <p:nvPr/>
        </p:nvSpPr>
        <p:spPr>
          <a:xfrm>
            <a:off x="5594449" y="2705100"/>
            <a:ext cx="2025700" cy="11430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Pierwsza generacja DDR, wprowadzona w 2000 roku, zwiększała przepustowość poprzez podwójne transferowanie danych na początku i końcu cyklu taktowania.</a:t>
            </a:r>
            <a:endParaRPr lang="en-US" sz="980" dirty="0"/>
          </a:p>
        </p:txBody>
      </p:sp>
      <p:sp>
        <p:nvSpPr>
          <p:cNvPr id="24" name="Text 8"/>
          <p:cNvSpPr/>
          <p:nvPr/>
        </p:nvSpPr>
        <p:spPr>
          <a:xfrm>
            <a:off x="571500" y="4419600"/>
            <a:ext cx="7711440"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67E8F9"/>
                </a:solidFill>
                <a:latin typeface="Roboto" pitchFamily="34" charset="0"/>
                <a:ea typeface="Roboto" pitchFamily="34" charset="-122"/>
                <a:cs typeface="Roboto" pitchFamily="34" charset="-120"/>
              </a:rPr>
              <a:t>Kluczowe Ulepszenia W Każdej Nowej Generacji:</a:t>
            </a:r>
            <a:endParaRPr lang="en-US" sz="1380" dirty="0"/>
          </a:p>
        </p:txBody>
      </p:sp>
      <p:sp>
        <p:nvSpPr>
          <p:cNvPr id="25" name="Text 9"/>
          <p:cNvSpPr/>
          <p:nvPr/>
        </p:nvSpPr>
        <p:spPr>
          <a:xfrm>
            <a:off x="819150" y="4800600"/>
            <a:ext cx="2186196" cy="22860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Wzrost Szybkości</a:t>
            </a:r>
            <a:endParaRPr lang="en-US" sz="1120" dirty="0"/>
          </a:p>
        </p:txBody>
      </p:sp>
      <p:sp>
        <p:nvSpPr>
          <p:cNvPr id="26" name="Text 10"/>
          <p:cNvSpPr/>
          <p:nvPr/>
        </p:nvSpPr>
        <p:spPr>
          <a:xfrm>
            <a:off x="819150" y="5029200"/>
            <a:ext cx="1987451" cy="5715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Każda nowa generacja RAM oferuje wyższą przepustowość danych</a:t>
            </a:r>
            <a:endParaRPr lang="en-US" sz="980" dirty="0"/>
          </a:p>
        </p:txBody>
      </p:sp>
      <p:sp>
        <p:nvSpPr>
          <p:cNvPr id="27" name="Text 11"/>
          <p:cNvSpPr/>
          <p:nvPr/>
        </p:nvSpPr>
        <p:spPr>
          <a:xfrm>
            <a:off x="3206651" y="4800600"/>
            <a:ext cx="2186360" cy="22860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Efektywność Energetyczna</a:t>
            </a:r>
            <a:endParaRPr lang="en-US" sz="1120" dirty="0"/>
          </a:p>
        </p:txBody>
      </p:sp>
      <p:sp>
        <p:nvSpPr>
          <p:cNvPr id="28" name="Text 12"/>
          <p:cNvSpPr/>
          <p:nvPr/>
        </p:nvSpPr>
        <p:spPr>
          <a:xfrm>
            <a:off x="3206651" y="5029200"/>
            <a:ext cx="1987600" cy="3810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Zmniejszony pobór mocy i lepsze zarządzanie energią</a:t>
            </a:r>
            <a:endParaRPr lang="en-US" sz="980" dirty="0"/>
          </a:p>
        </p:txBody>
      </p:sp>
      <p:sp>
        <p:nvSpPr>
          <p:cNvPr id="29" name="Text 13"/>
          <p:cNvSpPr/>
          <p:nvPr/>
        </p:nvSpPr>
        <p:spPr>
          <a:xfrm>
            <a:off x="5575250" y="4800600"/>
            <a:ext cx="2207315" cy="228600"/>
          </a:xfrm>
          <a:prstGeom prst="rect">
            <a:avLst/>
          </a:prstGeom>
          <a:noFill/>
          <a:ln/>
        </p:spPr>
        <p:txBody>
          <a:bodyPr wrap="square" lIns="0" tIns="0" rIns="0" bIns="0" rtlCol="0" anchor="t">
            <a:spAutoFit/>
          </a:bodyPr>
          <a:lstStyle/>
          <a:p>
            <a:pPr marL="0" indent="0">
              <a:lnSpc>
                <a:spcPts val="1800"/>
              </a:lnSpc>
              <a:buNone/>
            </a:pPr>
            <a:r>
              <a:rPr lang="en-US" sz="1120" b="1" dirty="0">
                <a:solidFill>
                  <a:srgbClr val="FFFFFF"/>
                </a:solidFill>
                <a:latin typeface="Roboto" pitchFamily="34" charset="0"/>
                <a:ea typeface="Roboto" pitchFamily="34" charset="-122"/>
                <a:cs typeface="Roboto" pitchFamily="34" charset="-120"/>
              </a:rPr>
              <a:t>Niezawodność</a:t>
            </a:r>
            <a:endParaRPr lang="en-US" sz="1120" dirty="0"/>
          </a:p>
        </p:txBody>
      </p:sp>
      <p:sp>
        <p:nvSpPr>
          <p:cNvPr id="30" name="Text 14"/>
          <p:cNvSpPr/>
          <p:nvPr/>
        </p:nvSpPr>
        <p:spPr>
          <a:xfrm>
            <a:off x="5575250" y="5029200"/>
            <a:ext cx="2006650" cy="381000"/>
          </a:xfrm>
          <a:prstGeom prst="rect">
            <a:avLst/>
          </a:prstGeom>
          <a:noFill/>
          <a:ln/>
        </p:spPr>
        <p:txBody>
          <a:bodyPr wrap="square" lIns="0" tIns="0" rIns="0" bIns="0" rtlCol="0" anchor="t">
            <a:spAutoFit/>
          </a:bodyPr>
          <a:lstStyle/>
          <a:p>
            <a:pPr marL="0" indent="0">
              <a:lnSpc>
                <a:spcPts val="1500"/>
              </a:lnSpc>
              <a:buNone/>
            </a:pPr>
            <a:r>
              <a:rPr lang="en-US" sz="980" dirty="0">
                <a:solidFill>
                  <a:srgbClr val="FFFFFF"/>
                </a:solidFill>
                <a:latin typeface="Roboto" pitchFamily="34" charset="0"/>
                <a:ea typeface="Roboto" pitchFamily="34" charset="-122"/>
                <a:cs typeface="Roboto" pitchFamily="34" charset="-120"/>
              </a:rPr>
              <a:t>Ulepszona wydolność i mniejsze ryzyko błędów</a:t>
            </a:r>
            <a:endParaRPr lang="en-US" sz="9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134225"/>
          </a:xfrm>
          <a:prstGeom prst="rect">
            <a:avLst/>
          </a:prstGeom>
        </p:spPr>
      </p:pic>
      <p:pic>
        <p:nvPicPr>
          <p:cNvPr id="3" name="Image 1" descr="preencoded.png"/>
          <p:cNvPicPr>
            <a:picLocks noChangeAspect="1"/>
          </p:cNvPicPr>
          <p:nvPr/>
        </p:nvPicPr>
        <p:blipFill>
          <a:blip r:embed="rId4"/>
          <a:stretch>
            <a:fillRect/>
          </a:stretch>
        </p:blipFill>
        <p:spPr>
          <a:xfrm>
            <a:off x="1244501" y="952500"/>
            <a:ext cx="1981200" cy="1981200"/>
          </a:xfrm>
          <a:prstGeom prst="rect">
            <a:avLst/>
          </a:prstGeom>
        </p:spPr>
      </p:pic>
      <p:pic>
        <p:nvPicPr>
          <p:cNvPr id="4" name="Image 2" descr="preencoded.png"/>
          <p:cNvPicPr>
            <a:picLocks noChangeAspect="1"/>
          </p:cNvPicPr>
          <p:nvPr/>
        </p:nvPicPr>
        <p:blipFill>
          <a:blip r:embed="rId5"/>
          <a:stretch>
            <a:fillRect/>
          </a:stretch>
        </p:blipFill>
        <p:spPr>
          <a:xfrm>
            <a:off x="1320701" y="1028700"/>
            <a:ext cx="1828800" cy="1828800"/>
          </a:xfrm>
          <a:prstGeom prst="rect">
            <a:avLst/>
          </a:prstGeom>
        </p:spPr>
      </p:pic>
      <p:pic>
        <p:nvPicPr>
          <p:cNvPr id="5" name="Image 3" descr="preencoded.png"/>
          <p:cNvPicPr>
            <a:picLocks noChangeAspect="1"/>
          </p:cNvPicPr>
          <p:nvPr/>
        </p:nvPicPr>
        <p:blipFill>
          <a:blip r:embed="rId6"/>
          <a:stretch>
            <a:fillRect/>
          </a:stretch>
        </p:blipFill>
        <p:spPr>
          <a:xfrm>
            <a:off x="1205805" y="3009900"/>
            <a:ext cx="228600" cy="304800"/>
          </a:xfrm>
          <a:prstGeom prst="rect">
            <a:avLst/>
          </a:prstGeom>
        </p:spPr>
      </p:pic>
      <p:pic>
        <p:nvPicPr>
          <p:cNvPr id="6" name="Image 4" descr="preencoded.png"/>
          <p:cNvPicPr>
            <a:picLocks noChangeAspect="1"/>
          </p:cNvPicPr>
          <p:nvPr/>
        </p:nvPicPr>
        <p:blipFill>
          <a:blip r:embed="rId4"/>
          <a:stretch>
            <a:fillRect/>
          </a:stretch>
        </p:blipFill>
        <p:spPr>
          <a:xfrm>
            <a:off x="1244501" y="3771900"/>
            <a:ext cx="1981200" cy="1981200"/>
          </a:xfrm>
          <a:prstGeom prst="rect">
            <a:avLst/>
          </a:prstGeom>
        </p:spPr>
      </p:pic>
      <p:pic>
        <p:nvPicPr>
          <p:cNvPr id="7" name="Image 5" descr="preencoded.png"/>
          <p:cNvPicPr>
            <a:picLocks noChangeAspect="1"/>
          </p:cNvPicPr>
          <p:nvPr/>
        </p:nvPicPr>
        <p:blipFill>
          <a:blip r:embed="rId7"/>
          <a:stretch>
            <a:fillRect/>
          </a:stretch>
        </p:blipFill>
        <p:spPr>
          <a:xfrm>
            <a:off x="1320701" y="3848100"/>
            <a:ext cx="1828800" cy="1828800"/>
          </a:xfrm>
          <a:prstGeom prst="rect">
            <a:avLst/>
          </a:prstGeom>
        </p:spPr>
      </p:pic>
      <p:pic>
        <p:nvPicPr>
          <p:cNvPr id="8" name="Image 6" descr="preencoded.png"/>
          <p:cNvPicPr>
            <a:picLocks noChangeAspect="1"/>
          </p:cNvPicPr>
          <p:nvPr/>
        </p:nvPicPr>
        <p:blipFill>
          <a:blip r:embed="rId8"/>
          <a:stretch>
            <a:fillRect/>
          </a:stretch>
        </p:blipFill>
        <p:spPr>
          <a:xfrm>
            <a:off x="685502" y="5829300"/>
            <a:ext cx="228600" cy="304800"/>
          </a:xfrm>
          <a:prstGeom prst="rect">
            <a:avLst/>
          </a:prstGeom>
        </p:spPr>
      </p:pic>
      <p:pic>
        <p:nvPicPr>
          <p:cNvPr id="12" name="Image 10" descr="preencoded.png"/>
          <p:cNvPicPr>
            <a:picLocks noChangeAspect="1"/>
          </p:cNvPicPr>
          <p:nvPr/>
        </p:nvPicPr>
        <p:blipFill>
          <a:blip r:embed="rId9"/>
          <a:stretch>
            <a:fillRect/>
          </a:stretch>
        </p:blipFill>
        <p:spPr>
          <a:xfrm>
            <a:off x="4394150" y="2371725"/>
            <a:ext cx="1873151" cy="609600"/>
          </a:xfrm>
          <a:prstGeom prst="rect">
            <a:avLst/>
          </a:prstGeom>
        </p:spPr>
      </p:pic>
      <p:pic>
        <p:nvPicPr>
          <p:cNvPr id="13" name="Image 11" descr="preencoded.png"/>
          <p:cNvPicPr>
            <a:picLocks noChangeAspect="1"/>
          </p:cNvPicPr>
          <p:nvPr/>
        </p:nvPicPr>
        <p:blipFill>
          <a:blip r:embed="rId10"/>
          <a:stretch>
            <a:fillRect/>
          </a:stretch>
        </p:blipFill>
        <p:spPr>
          <a:xfrm>
            <a:off x="6267301" y="2371725"/>
            <a:ext cx="3746450" cy="609600"/>
          </a:xfrm>
          <a:prstGeom prst="rect">
            <a:avLst/>
          </a:prstGeom>
        </p:spPr>
      </p:pic>
      <p:pic>
        <p:nvPicPr>
          <p:cNvPr id="14" name="Image 12" descr="preencoded.png"/>
          <p:cNvPicPr>
            <a:picLocks noChangeAspect="1"/>
          </p:cNvPicPr>
          <p:nvPr/>
        </p:nvPicPr>
        <p:blipFill>
          <a:blip r:embed="rId9"/>
          <a:stretch>
            <a:fillRect/>
          </a:stretch>
        </p:blipFill>
        <p:spPr>
          <a:xfrm>
            <a:off x="10013752" y="2371725"/>
            <a:ext cx="1873300" cy="609600"/>
          </a:xfrm>
          <a:prstGeom prst="rect">
            <a:avLst/>
          </a:prstGeom>
        </p:spPr>
      </p:pic>
      <p:pic>
        <p:nvPicPr>
          <p:cNvPr id="15" name="Image 13" descr="preencoded.png"/>
          <p:cNvPicPr>
            <a:picLocks noChangeAspect="1"/>
          </p:cNvPicPr>
          <p:nvPr/>
        </p:nvPicPr>
        <p:blipFill>
          <a:blip r:embed="rId9"/>
          <a:stretch>
            <a:fillRect/>
          </a:stretch>
        </p:blipFill>
        <p:spPr>
          <a:xfrm>
            <a:off x="4394150" y="2981325"/>
            <a:ext cx="1873151" cy="609600"/>
          </a:xfrm>
          <a:prstGeom prst="rect">
            <a:avLst/>
          </a:prstGeom>
        </p:spPr>
      </p:pic>
      <p:pic>
        <p:nvPicPr>
          <p:cNvPr id="16" name="Image 14" descr="preencoded.png"/>
          <p:cNvPicPr>
            <a:picLocks noChangeAspect="1"/>
          </p:cNvPicPr>
          <p:nvPr/>
        </p:nvPicPr>
        <p:blipFill>
          <a:blip r:embed="rId10"/>
          <a:stretch>
            <a:fillRect/>
          </a:stretch>
        </p:blipFill>
        <p:spPr>
          <a:xfrm>
            <a:off x="6267301" y="2981325"/>
            <a:ext cx="3746450" cy="609600"/>
          </a:xfrm>
          <a:prstGeom prst="rect">
            <a:avLst/>
          </a:prstGeom>
        </p:spPr>
      </p:pic>
      <p:pic>
        <p:nvPicPr>
          <p:cNvPr id="17" name="Image 15" descr="preencoded.png"/>
          <p:cNvPicPr>
            <a:picLocks noChangeAspect="1"/>
          </p:cNvPicPr>
          <p:nvPr/>
        </p:nvPicPr>
        <p:blipFill>
          <a:blip r:embed="rId9"/>
          <a:stretch>
            <a:fillRect/>
          </a:stretch>
        </p:blipFill>
        <p:spPr>
          <a:xfrm>
            <a:off x="10013752" y="2981325"/>
            <a:ext cx="1873300" cy="609600"/>
          </a:xfrm>
          <a:prstGeom prst="rect">
            <a:avLst/>
          </a:prstGeom>
        </p:spPr>
      </p:pic>
      <p:pic>
        <p:nvPicPr>
          <p:cNvPr id="18" name="Image 16" descr="preencoded.png"/>
          <p:cNvPicPr>
            <a:picLocks noChangeAspect="1"/>
          </p:cNvPicPr>
          <p:nvPr/>
        </p:nvPicPr>
        <p:blipFill>
          <a:blip r:embed="rId9"/>
          <a:stretch>
            <a:fillRect/>
          </a:stretch>
        </p:blipFill>
        <p:spPr>
          <a:xfrm>
            <a:off x="4394150" y="3590925"/>
            <a:ext cx="1873151" cy="609600"/>
          </a:xfrm>
          <a:prstGeom prst="rect">
            <a:avLst/>
          </a:prstGeom>
        </p:spPr>
      </p:pic>
      <p:pic>
        <p:nvPicPr>
          <p:cNvPr id="19" name="Image 17" descr="preencoded.png"/>
          <p:cNvPicPr>
            <a:picLocks noChangeAspect="1"/>
          </p:cNvPicPr>
          <p:nvPr/>
        </p:nvPicPr>
        <p:blipFill>
          <a:blip r:embed="rId10"/>
          <a:stretch>
            <a:fillRect/>
          </a:stretch>
        </p:blipFill>
        <p:spPr>
          <a:xfrm>
            <a:off x="6267301" y="3590925"/>
            <a:ext cx="3746450" cy="609600"/>
          </a:xfrm>
          <a:prstGeom prst="rect">
            <a:avLst/>
          </a:prstGeom>
        </p:spPr>
      </p:pic>
      <p:pic>
        <p:nvPicPr>
          <p:cNvPr id="20" name="Image 18" descr="preencoded.png"/>
          <p:cNvPicPr>
            <a:picLocks noChangeAspect="1"/>
          </p:cNvPicPr>
          <p:nvPr/>
        </p:nvPicPr>
        <p:blipFill>
          <a:blip r:embed="rId9"/>
          <a:stretch>
            <a:fillRect/>
          </a:stretch>
        </p:blipFill>
        <p:spPr>
          <a:xfrm>
            <a:off x="10013752" y="3590925"/>
            <a:ext cx="1873300" cy="609600"/>
          </a:xfrm>
          <a:prstGeom prst="rect">
            <a:avLst/>
          </a:prstGeom>
        </p:spPr>
      </p:pic>
      <p:pic>
        <p:nvPicPr>
          <p:cNvPr id="21" name="Image 19" descr="preencoded.png"/>
          <p:cNvPicPr>
            <a:picLocks noChangeAspect="1"/>
          </p:cNvPicPr>
          <p:nvPr/>
        </p:nvPicPr>
        <p:blipFill>
          <a:blip r:embed="rId9"/>
          <a:stretch>
            <a:fillRect/>
          </a:stretch>
        </p:blipFill>
        <p:spPr>
          <a:xfrm>
            <a:off x="4394150" y="4200525"/>
            <a:ext cx="1873151" cy="609600"/>
          </a:xfrm>
          <a:prstGeom prst="rect">
            <a:avLst/>
          </a:prstGeom>
        </p:spPr>
      </p:pic>
      <p:pic>
        <p:nvPicPr>
          <p:cNvPr id="22" name="Image 20" descr="preencoded.png"/>
          <p:cNvPicPr>
            <a:picLocks noChangeAspect="1"/>
          </p:cNvPicPr>
          <p:nvPr/>
        </p:nvPicPr>
        <p:blipFill>
          <a:blip r:embed="rId10"/>
          <a:stretch>
            <a:fillRect/>
          </a:stretch>
        </p:blipFill>
        <p:spPr>
          <a:xfrm>
            <a:off x="6267301" y="4200525"/>
            <a:ext cx="3746450" cy="609600"/>
          </a:xfrm>
          <a:prstGeom prst="rect">
            <a:avLst/>
          </a:prstGeom>
        </p:spPr>
      </p:pic>
      <p:pic>
        <p:nvPicPr>
          <p:cNvPr id="23" name="Image 21" descr="preencoded.png"/>
          <p:cNvPicPr>
            <a:picLocks noChangeAspect="1"/>
          </p:cNvPicPr>
          <p:nvPr/>
        </p:nvPicPr>
        <p:blipFill>
          <a:blip r:embed="rId9"/>
          <a:stretch>
            <a:fillRect/>
          </a:stretch>
        </p:blipFill>
        <p:spPr>
          <a:xfrm>
            <a:off x="10013752" y="4200525"/>
            <a:ext cx="1873300" cy="609600"/>
          </a:xfrm>
          <a:prstGeom prst="rect">
            <a:avLst/>
          </a:prstGeom>
        </p:spPr>
      </p:pic>
      <p:pic>
        <p:nvPicPr>
          <p:cNvPr id="24" name="Image 22" descr="preencoded.png"/>
          <p:cNvPicPr>
            <a:picLocks noChangeAspect="1"/>
          </p:cNvPicPr>
          <p:nvPr/>
        </p:nvPicPr>
        <p:blipFill>
          <a:blip r:embed="rId11"/>
          <a:stretch>
            <a:fillRect/>
          </a:stretch>
        </p:blipFill>
        <p:spPr>
          <a:xfrm>
            <a:off x="4394150" y="4810125"/>
            <a:ext cx="1873151" cy="381000"/>
          </a:xfrm>
          <a:prstGeom prst="rect">
            <a:avLst/>
          </a:prstGeom>
        </p:spPr>
      </p:pic>
      <p:pic>
        <p:nvPicPr>
          <p:cNvPr id="25" name="Image 23" descr="preencoded.png"/>
          <p:cNvPicPr>
            <a:picLocks noChangeAspect="1"/>
          </p:cNvPicPr>
          <p:nvPr/>
        </p:nvPicPr>
        <p:blipFill>
          <a:blip r:embed="rId12"/>
          <a:stretch>
            <a:fillRect/>
          </a:stretch>
        </p:blipFill>
        <p:spPr>
          <a:xfrm>
            <a:off x="6267301" y="4810125"/>
            <a:ext cx="3746450" cy="381000"/>
          </a:xfrm>
          <a:prstGeom prst="rect">
            <a:avLst/>
          </a:prstGeom>
        </p:spPr>
      </p:pic>
      <p:pic>
        <p:nvPicPr>
          <p:cNvPr id="26" name="Image 24" descr="preencoded.png"/>
          <p:cNvPicPr>
            <a:picLocks noChangeAspect="1"/>
          </p:cNvPicPr>
          <p:nvPr/>
        </p:nvPicPr>
        <p:blipFill>
          <a:blip r:embed="rId11"/>
          <a:stretch>
            <a:fillRect/>
          </a:stretch>
        </p:blipFill>
        <p:spPr>
          <a:xfrm>
            <a:off x="10013752" y="4810125"/>
            <a:ext cx="1873300" cy="381000"/>
          </a:xfrm>
          <a:prstGeom prst="rect">
            <a:avLst/>
          </a:prstGeom>
        </p:spPr>
      </p:pic>
      <p:sp>
        <p:nvSpPr>
          <p:cNvPr id="27" name="Text 0"/>
          <p:cNvSpPr/>
          <p:nvPr/>
        </p:nvSpPr>
        <p:spPr>
          <a:xfrm>
            <a:off x="304800" y="304800"/>
            <a:ext cx="1274064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Ewolucja Pamięci Masowej - Od Dysków Magnetycznych do Półprzewodników</a:t>
            </a:r>
            <a:endParaRPr lang="en-US" sz="2170" dirty="0"/>
          </a:p>
        </p:txBody>
      </p:sp>
      <p:sp>
        <p:nvSpPr>
          <p:cNvPr id="28" name="Text 1"/>
          <p:cNvSpPr/>
          <p:nvPr/>
        </p:nvSpPr>
        <p:spPr>
          <a:xfrm>
            <a:off x="1510605" y="3028950"/>
            <a:ext cx="1929170"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FDBA74"/>
                </a:solidFill>
                <a:latin typeface="Roboto" pitchFamily="34" charset="0"/>
                <a:ea typeface="Roboto" pitchFamily="34" charset="-122"/>
                <a:cs typeface="Roboto" pitchFamily="34" charset="-120"/>
              </a:rPr>
              <a:t>Dysk Twardy (HDD)</a:t>
            </a:r>
            <a:endParaRPr lang="en-US" sz="1380" dirty="0"/>
          </a:p>
        </p:txBody>
      </p:sp>
      <p:sp>
        <p:nvSpPr>
          <p:cNvPr id="29" name="Text 2"/>
          <p:cNvSpPr/>
          <p:nvPr/>
        </p:nvSpPr>
        <p:spPr>
          <a:xfrm>
            <a:off x="820631" y="3352800"/>
            <a:ext cx="2829089" cy="190500"/>
          </a:xfrm>
          <a:prstGeom prst="rect">
            <a:avLst/>
          </a:prstGeom>
          <a:noFill/>
          <a:ln/>
        </p:spPr>
        <p:txBody>
          <a:bodyPr wrap="square" lIns="0" tIns="0" rIns="0" bIns="0" rtlCol="0" anchor="t">
            <a:spAutoFit/>
          </a:bodyPr>
          <a:lstStyle/>
          <a:p>
            <a:pPr marL="0" indent="0" algn="ctr">
              <a:lnSpc>
                <a:spcPts val="1500"/>
              </a:lnSpc>
              <a:buNone/>
            </a:pPr>
            <a:r>
              <a:rPr lang="en-US" sz="980" dirty="0">
                <a:solidFill>
                  <a:srgbClr val="D1D5DB"/>
                </a:solidFill>
                <a:latin typeface="Roboto" pitchFamily="34" charset="0"/>
                <a:ea typeface="Roboto" pitchFamily="34" charset="-122"/>
                <a:cs typeface="Roboto" pitchFamily="34" charset="-120"/>
              </a:rPr>
              <a:t>Zapis magnetyczny na wirujących talerzach</a:t>
            </a:r>
            <a:endParaRPr lang="en-US" sz="980" dirty="0"/>
          </a:p>
        </p:txBody>
      </p:sp>
      <p:sp>
        <p:nvSpPr>
          <p:cNvPr id="30" name="Text 3"/>
          <p:cNvSpPr/>
          <p:nvPr/>
        </p:nvSpPr>
        <p:spPr>
          <a:xfrm>
            <a:off x="990302" y="5848350"/>
            <a:ext cx="3074000" cy="266700"/>
          </a:xfrm>
          <a:prstGeom prst="rect">
            <a:avLst/>
          </a:prstGeom>
          <a:noFill/>
          <a:ln/>
        </p:spPr>
        <p:txBody>
          <a:bodyPr wrap="square" lIns="0" tIns="0" rIns="0" bIns="0" rtlCol="0" anchor="t">
            <a:spAutoFit/>
          </a:bodyPr>
          <a:lstStyle/>
          <a:p>
            <a:pPr marL="0" indent="0">
              <a:lnSpc>
                <a:spcPts val="2100"/>
              </a:lnSpc>
              <a:buNone/>
            </a:pPr>
            <a:r>
              <a:rPr lang="en-US" sz="1380" b="1" dirty="0">
                <a:solidFill>
                  <a:srgbClr val="86EFAC"/>
                </a:solidFill>
                <a:latin typeface="Roboto" pitchFamily="34" charset="0"/>
                <a:ea typeface="Roboto" pitchFamily="34" charset="-122"/>
                <a:cs typeface="Roboto" pitchFamily="34" charset="-120"/>
              </a:rPr>
              <a:t>Dysk Półprzewodnikowy (SSD)</a:t>
            </a:r>
            <a:endParaRPr lang="en-US" sz="1380" dirty="0"/>
          </a:p>
        </p:txBody>
      </p:sp>
      <p:sp>
        <p:nvSpPr>
          <p:cNvPr id="31" name="Text 4"/>
          <p:cNvSpPr/>
          <p:nvPr/>
        </p:nvSpPr>
        <p:spPr>
          <a:xfrm>
            <a:off x="808524" y="6172200"/>
            <a:ext cx="2853154" cy="190500"/>
          </a:xfrm>
          <a:prstGeom prst="rect">
            <a:avLst/>
          </a:prstGeom>
          <a:noFill/>
          <a:ln/>
        </p:spPr>
        <p:txBody>
          <a:bodyPr wrap="square" lIns="0" tIns="0" rIns="0" bIns="0" rtlCol="0" anchor="t">
            <a:spAutoFit/>
          </a:bodyPr>
          <a:lstStyle/>
          <a:p>
            <a:pPr marL="0" indent="0" algn="ctr">
              <a:lnSpc>
                <a:spcPts val="1500"/>
              </a:lnSpc>
              <a:buNone/>
            </a:pPr>
            <a:r>
              <a:rPr lang="en-US" sz="980" dirty="0">
                <a:solidFill>
                  <a:srgbClr val="D1D5DB"/>
                </a:solidFill>
                <a:latin typeface="Roboto" pitchFamily="34" charset="0"/>
                <a:ea typeface="Roboto" pitchFamily="34" charset="-122"/>
                <a:cs typeface="Roboto" pitchFamily="34" charset="-120"/>
              </a:rPr>
              <a:t>Zapis elektroniczny w pamięci flash (NAND)</a:t>
            </a:r>
            <a:endParaRPr lang="en-US" sz="980" dirty="0"/>
          </a:p>
        </p:txBody>
      </p:sp>
      <p:sp>
        <p:nvSpPr>
          <p:cNvPr id="32" name="Text 5"/>
          <p:cNvSpPr/>
          <p:nvPr/>
        </p:nvSpPr>
        <p:spPr>
          <a:xfrm>
            <a:off x="4394150" y="914400"/>
            <a:ext cx="8242191" cy="342900"/>
          </a:xfrm>
          <a:prstGeom prst="rect">
            <a:avLst/>
          </a:prstGeom>
          <a:noFill/>
          <a:ln/>
        </p:spPr>
        <p:txBody>
          <a:bodyPr wrap="square" lIns="0" tIns="0" rIns="0" bIns="0" rtlCol="0" anchor="t">
            <a:spAutoFit/>
          </a:bodyPr>
          <a:lstStyle/>
          <a:p>
            <a:pPr marL="0" indent="0">
              <a:lnSpc>
                <a:spcPts val="2700"/>
              </a:lnSpc>
              <a:buNone/>
            </a:pPr>
            <a:r>
              <a:rPr lang="en-US" sz="1646" b="1" dirty="0">
                <a:solidFill>
                  <a:srgbClr val="FFFFFF"/>
                </a:solidFill>
                <a:latin typeface="Roboto" pitchFamily="34" charset="0"/>
                <a:ea typeface="Roboto" pitchFamily="34" charset="-122"/>
                <a:cs typeface="Roboto" pitchFamily="34" charset="-120"/>
              </a:rPr>
              <a:t>Porównanie HDD i SSD</a:t>
            </a:r>
            <a:endParaRPr lang="en-US" sz="1646" dirty="0"/>
          </a:p>
        </p:txBody>
      </p:sp>
      <p:sp>
        <p:nvSpPr>
          <p:cNvPr id="33" name="Text 6"/>
          <p:cNvSpPr/>
          <p:nvPr/>
        </p:nvSpPr>
        <p:spPr>
          <a:xfrm>
            <a:off x="4403675" y="1371600"/>
            <a:ext cx="2060466" cy="1000125"/>
          </a:xfrm>
          <a:prstGeom prst="rect">
            <a:avLst/>
          </a:prstGeom>
          <a:noFill/>
          <a:ln/>
        </p:spPr>
        <p:txBody>
          <a:bodyPr wrap="square" lIns="0" tIns="0" rIns="0" bIns="0" rtlCol="0" anchor="t">
            <a:spAutoFit/>
          </a:bodyPr>
          <a:lstStyle/>
          <a:p>
            <a:pPr marL="0" indent="0" algn="l">
              <a:lnSpc>
                <a:spcPts val="2025"/>
              </a:lnSpc>
              <a:buNone/>
            </a:pPr>
            <a:r>
              <a:rPr lang="en-US" sz="1260" b="1" dirty="0">
                <a:solidFill>
                  <a:srgbClr val="00FFFF"/>
                </a:solidFill>
                <a:latin typeface="Roboto" pitchFamily="34" charset="0"/>
                <a:ea typeface="Roboto" pitchFamily="34" charset="-122"/>
                <a:cs typeface="Roboto" pitchFamily="34" charset="-120"/>
              </a:rPr>
              <a:t>Cecha</a:t>
            </a:r>
            <a:endParaRPr lang="en-US" sz="1260" dirty="0"/>
          </a:p>
        </p:txBody>
      </p:sp>
      <p:sp>
        <p:nvSpPr>
          <p:cNvPr id="34" name="Text 7"/>
          <p:cNvSpPr/>
          <p:nvPr/>
        </p:nvSpPr>
        <p:spPr>
          <a:xfrm>
            <a:off x="6276826" y="1371600"/>
            <a:ext cx="4121095" cy="1000125"/>
          </a:xfrm>
          <a:prstGeom prst="rect">
            <a:avLst/>
          </a:prstGeom>
          <a:noFill/>
          <a:ln/>
        </p:spPr>
        <p:txBody>
          <a:bodyPr wrap="square" lIns="0" tIns="0" rIns="0" bIns="0" rtlCol="0" anchor="t">
            <a:spAutoFit/>
          </a:bodyPr>
          <a:lstStyle/>
          <a:p>
            <a:pPr marL="0" indent="0" algn="l">
              <a:lnSpc>
                <a:spcPts val="2025"/>
              </a:lnSpc>
              <a:buNone/>
            </a:pPr>
            <a:r>
              <a:rPr lang="en-US" sz="1260" b="1" dirty="0">
                <a:solidFill>
                  <a:srgbClr val="00FFFF"/>
                </a:solidFill>
                <a:latin typeface="Roboto" pitchFamily="34" charset="0"/>
                <a:ea typeface="Roboto" pitchFamily="34" charset="-122"/>
                <a:cs typeface="Roboto" pitchFamily="34" charset="-120"/>
              </a:rPr>
              <a:t>Dysk Twardy (HDD)</a:t>
            </a:r>
            <a:endParaRPr lang="en-US" sz="1260" dirty="0"/>
          </a:p>
        </p:txBody>
      </p:sp>
      <p:sp>
        <p:nvSpPr>
          <p:cNvPr id="35" name="Text 8"/>
          <p:cNvSpPr/>
          <p:nvPr/>
        </p:nvSpPr>
        <p:spPr>
          <a:xfrm>
            <a:off x="10023277" y="1371600"/>
            <a:ext cx="1873300" cy="1000125"/>
          </a:xfrm>
          <a:prstGeom prst="rect">
            <a:avLst/>
          </a:prstGeom>
          <a:noFill/>
          <a:ln/>
        </p:spPr>
        <p:txBody>
          <a:bodyPr wrap="square" lIns="0" tIns="0" rIns="0" bIns="0" rtlCol="0" anchor="t">
            <a:spAutoFit/>
          </a:bodyPr>
          <a:lstStyle/>
          <a:p>
            <a:pPr marL="0" indent="0" algn="l">
              <a:lnSpc>
                <a:spcPts val="2025"/>
              </a:lnSpc>
              <a:buNone/>
            </a:pPr>
            <a:r>
              <a:rPr lang="en-US" sz="1260" b="1" dirty="0">
                <a:solidFill>
                  <a:srgbClr val="00FFFF"/>
                </a:solidFill>
                <a:latin typeface="Roboto" pitchFamily="34" charset="0"/>
                <a:ea typeface="Roboto" pitchFamily="34" charset="-122"/>
                <a:cs typeface="Roboto" pitchFamily="34" charset="-120"/>
              </a:rPr>
              <a:t>Dysk Półprzewodnikowy (SSD)</a:t>
            </a:r>
            <a:endParaRPr lang="en-US" sz="1260" dirty="0"/>
          </a:p>
        </p:txBody>
      </p:sp>
      <p:sp>
        <p:nvSpPr>
          <p:cNvPr id="36" name="Text 9"/>
          <p:cNvSpPr/>
          <p:nvPr/>
        </p:nvSpPr>
        <p:spPr>
          <a:xfrm>
            <a:off x="4508450" y="2371725"/>
            <a:ext cx="1873151"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Prędkość odczytu/zapisu</a:t>
            </a:r>
            <a:endParaRPr lang="en-US" sz="1120" dirty="0"/>
          </a:p>
        </p:txBody>
      </p:sp>
      <p:sp>
        <p:nvSpPr>
          <p:cNvPr id="37" name="Text 10"/>
          <p:cNvSpPr/>
          <p:nvPr/>
        </p:nvSpPr>
        <p:spPr>
          <a:xfrm>
            <a:off x="6381601" y="2371725"/>
            <a:ext cx="4121095"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50-200 MB/s (sekwencyjny)</a:t>
            </a:r>
            <a:endParaRPr lang="en-US" sz="1120" dirty="0"/>
          </a:p>
        </p:txBody>
      </p:sp>
      <p:sp>
        <p:nvSpPr>
          <p:cNvPr id="38" name="Text 11"/>
          <p:cNvSpPr/>
          <p:nvPr/>
        </p:nvSpPr>
        <p:spPr>
          <a:xfrm>
            <a:off x="10128052" y="2371725"/>
            <a:ext cx="1873300"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300-7000 MB/s (sekwencyjny)</a:t>
            </a:r>
            <a:endParaRPr lang="en-US" sz="1120" dirty="0"/>
          </a:p>
        </p:txBody>
      </p:sp>
      <p:sp>
        <p:nvSpPr>
          <p:cNvPr id="39" name="Text 12"/>
          <p:cNvSpPr/>
          <p:nvPr/>
        </p:nvSpPr>
        <p:spPr>
          <a:xfrm>
            <a:off x="4508450" y="2981325"/>
            <a:ext cx="2060466"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Czas dostępu</a:t>
            </a:r>
            <a:endParaRPr lang="en-US" sz="1120" dirty="0"/>
          </a:p>
        </p:txBody>
      </p:sp>
      <p:sp>
        <p:nvSpPr>
          <p:cNvPr id="40" name="Text 13"/>
          <p:cNvSpPr/>
          <p:nvPr/>
        </p:nvSpPr>
        <p:spPr>
          <a:xfrm>
            <a:off x="6381601" y="2981325"/>
            <a:ext cx="4121095"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Kilka do kilkunastu milisekund</a:t>
            </a:r>
            <a:endParaRPr lang="en-US" sz="1120" dirty="0"/>
          </a:p>
        </p:txBody>
      </p:sp>
      <p:sp>
        <p:nvSpPr>
          <p:cNvPr id="41" name="Text 14"/>
          <p:cNvSpPr/>
          <p:nvPr/>
        </p:nvSpPr>
        <p:spPr>
          <a:xfrm>
            <a:off x="10128052" y="2981325"/>
            <a:ext cx="1873300"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Ułamki milisekundy (poniżej 0.1 ms)</a:t>
            </a:r>
            <a:endParaRPr lang="en-US" sz="1120" dirty="0"/>
          </a:p>
        </p:txBody>
      </p:sp>
      <p:sp>
        <p:nvSpPr>
          <p:cNvPr id="42" name="Text 15"/>
          <p:cNvSpPr/>
          <p:nvPr/>
        </p:nvSpPr>
        <p:spPr>
          <a:xfrm>
            <a:off x="4508450" y="3590925"/>
            <a:ext cx="1873151"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Odporność na uszkodzenia</a:t>
            </a:r>
            <a:endParaRPr lang="en-US" sz="1120" dirty="0"/>
          </a:p>
        </p:txBody>
      </p:sp>
      <p:sp>
        <p:nvSpPr>
          <p:cNvPr id="43" name="Text 16"/>
          <p:cNvSpPr/>
          <p:nvPr/>
        </p:nvSpPr>
        <p:spPr>
          <a:xfrm>
            <a:off x="6381601" y="3590925"/>
            <a:ext cx="4121095"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Niska (wrażliwy na wstrząsy)</a:t>
            </a:r>
            <a:endParaRPr lang="en-US" sz="1120" dirty="0"/>
          </a:p>
        </p:txBody>
      </p:sp>
      <p:sp>
        <p:nvSpPr>
          <p:cNvPr id="44" name="Text 17"/>
          <p:cNvSpPr/>
          <p:nvPr/>
        </p:nvSpPr>
        <p:spPr>
          <a:xfrm>
            <a:off x="10128052" y="3590925"/>
            <a:ext cx="1873300"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Wysoka (brak ruchomych części)</a:t>
            </a:r>
            <a:endParaRPr lang="en-US" sz="1120" dirty="0"/>
          </a:p>
        </p:txBody>
      </p:sp>
      <p:sp>
        <p:nvSpPr>
          <p:cNvPr id="45" name="Text 18"/>
          <p:cNvSpPr/>
          <p:nvPr/>
        </p:nvSpPr>
        <p:spPr>
          <a:xfrm>
            <a:off x="4508450" y="4200525"/>
            <a:ext cx="2060466"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Pobór mocy</a:t>
            </a:r>
            <a:endParaRPr lang="en-US" sz="1120" dirty="0"/>
          </a:p>
        </p:txBody>
      </p:sp>
      <p:sp>
        <p:nvSpPr>
          <p:cNvPr id="46" name="Text 19"/>
          <p:cNvSpPr/>
          <p:nvPr/>
        </p:nvSpPr>
        <p:spPr>
          <a:xfrm>
            <a:off x="6381601" y="4200525"/>
            <a:ext cx="4121095"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Wyższy (wymaga zasilania silnika)</a:t>
            </a:r>
            <a:endParaRPr lang="en-US" sz="1120" dirty="0"/>
          </a:p>
        </p:txBody>
      </p:sp>
      <p:sp>
        <p:nvSpPr>
          <p:cNvPr id="47" name="Text 20"/>
          <p:cNvSpPr/>
          <p:nvPr/>
        </p:nvSpPr>
        <p:spPr>
          <a:xfrm>
            <a:off x="10128052" y="4200525"/>
            <a:ext cx="1873300"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Niższy (brak ruchomych części)</a:t>
            </a:r>
            <a:endParaRPr lang="en-US" sz="1120" dirty="0"/>
          </a:p>
        </p:txBody>
      </p:sp>
      <p:sp>
        <p:nvSpPr>
          <p:cNvPr id="48" name="Text 21"/>
          <p:cNvSpPr/>
          <p:nvPr/>
        </p:nvSpPr>
        <p:spPr>
          <a:xfrm>
            <a:off x="4508450" y="4810125"/>
            <a:ext cx="2060466" cy="3810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Hałas</a:t>
            </a:r>
            <a:endParaRPr lang="en-US" sz="1120" dirty="0"/>
          </a:p>
        </p:txBody>
      </p:sp>
      <p:sp>
        <p:nvSpPr>
          <p:cNvPr id="49" name="Text 22"/>
          <p:cNvSpPr/>
          <p:nvPr/>
        </p:nvSpPr>
        <p:spPr>
          <a:xfrm>
            <a:off x="6381601" y="4810125"/>
            <a:ext cx="4121095" cy="3810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Słyszalny (szum talerzy)</a:t>
            </a:r>
            <a:endParaRPr lang="en-US" sz="1120" dirty="0"/>
          </a:p>
        </p:txBody>
      </p:sp>
      <p:sp>
        <p:nvSpPr>
          <p:cNvPr id="50" name="Text 23"/>
          <p:cNvSpPr/>
          <p:nvPr/>
        </p:nvSpPr>
        <p:spPr>
          <a:xfrm>
            <a:off x="10128052" y="4810125"/>
            <a:ext cx="2060630" cy="3810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Brak (cicha praca)</a:t>
            </a:r>
            <a:endParaRPr lang="en-US" sz="1120" dirty="0"/>
          </a:p>
        </p:txBody>
      </p:sp>
      <p:sp>
        <p:nvSpPr>
          <p:cNvPr id="51" name="Text 24"/>
          <p:cNvSpPr/>
          <p:nvPr/>
        </p:nvSpPr>
        <p:spPr>
          <a:xfrm>
            <a:off x="4508450" y="5191125"/>
            <a:ext cx="2060466"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Wielkość fizyczna</a:t>
            </a:r>
            <a:endParaRPr lang="en-US" sz="1120" dirty="0"/>
          </a:p>
        </p:txBody>
      </p:sp>
      <p:sp>
        <p:nvSpPr>
          <p:cNvPr id="52" name="Text 25"/>
          <p:cNvSpPr/>
          <p:nvPr/>
        </p:nvSpPr>
        <p:spPr>
          <a:xfrm>
            <a:off x="6381601" y="5191125"/>
            <a:ext cx="4121095"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Standardowo 3.5" i 2.5"</a:t>
            </a:r>
            <a:endParaRPr lang="en-US" sz="1120" dirty="0"/>
          </a:p>
        </p:txBody>
      </p:sp>
      <p:sp>
        <p:nvSpPr>
          <p:cNvPr id="53" name="Text 26"/>
          <p:cNvSpPr/>
          <p:nvPr/>
        </p:nvSpPr>
        <p:spPr>
          <a:xfrm>
            <a:off x="10128052" y="5191125"/>
            <a:ext cx="1873300" cy="609600"/>
          </a:xfrm>
          <a:prstGeom prst="rect">
            <a:avLst/>
          </a:prstGeom>
          <a:noFill/>
          <a:ln/>
        </p:spPr>
        <p:txBody>
          <a:bodyPr wrap="square" lIns="0" tIns="0" rIns="0" bIns="0" rtlCol="0" anchor="t">
            <a:spAutoFit/>
          </a:bodyPr>
          <a:lstStyle/>
          <a:p>
            <a:pPr marL="0" indent="0">
              <a:lnSpc>
                <a:spcPts val="1800"/>
              </a:lnSpc>
              <a:buNone/>
            </a:pPr>
            <a:r>
              <a:rPr lang="en-US" sz="1120" dirty="0">
                <a:solidFill>
                  <a:srgbClr val="FFFFFF"/>
                </a:solidFill>
                <a:latin typeface="Roboto" pitchFamily="34" charset="0"/>
                <a:ea typeface="Roboto" pitchFamily="34" charset="-122"/>
                <a:cs typeface="Roboto" pitchFamily="34" charset="-120"/>
              </a:rPr>
              <a:t>Standardowo 2.5", M.2, U.2 (mniejsze)</a:t>
            </a:r>
            <a:endParaRPr lang="en-US" sz="11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92000" cy="7629525"/>
          </a:xfrm>
          <a:prstGeom prst="rect">
            <a:avLst/>
          </a:prstGeom>
        </p:spPr>
      </p:pic>
      <p:pic>
        <p:nvPicPr>
          <p:cNvPr id="3" name="Image 1" descr="preencoded.png"/>
          <p:cNvPicPr>
            <a:picLocks noChangeAspect="1"/>
          </p:cNvPicPr>
          <p:nvPr/>
        </p:nvPicPr>
        <p:blipFill>
          <a:blip r:embed="rId4"/>
          <a:stretch>
            <a:fillRect/>
          </a:stretch>
        </p:blipFill>
        <p:spPr>
          <a:xfrm>
            <a:off x="381000" y="1828800"/>
            <a:ext cx="2743200" cy="1676400"/>
          </a:xfrm>
          <a:prstGeom prst="rect">
            <a:avLst/>
          </a:prstGeom>
        </p:spPr>
      </p:pic>
      <p:pic>
        <p:nvPicPr>
          <p:cNvPr id="4" name="Image 2" descr="preencoded.png"/>
          <p:cNvPicPr>
            <a:picLocks noChangeAspect="1"/>
          </p:cNvPicPr>
          <p:nvPr/>
        </p:nvPicPr>
        <p:blipFill>
          <a:blip r:embed="rId5"/>
          <a:stretch>
            <a:fillRect/>
          </a:stretch>
        </p:blipFill>
        <p:spPr>
          <a:xfrm>
            <a:off x="1600200" y="1990725"/>
            <a:ext cx="304800" cy="342900"/>
          </a:xfrm>
          <a:prstGeom prst="rect">
            <a:avLst/>
          </a:prstGeom>
        </p:spPr>
      </p:pic>
      <p:pic>
        <p:nvPicPr>
          <p:cNvPr id="5" name="Image 3" descr="preencoded.png"/>
          <p:cNvPicPr>
            <a:picLocks noChangeAspect="1"/>
          </p:cNvPicPr>
          <p:nvPr/>
        </p:nvPicPr>
        <p:blipFill>
          <a:blip r:embed="rId4"/>
          <a:stretch>
            <a:fillRect/>
          </a:stretch>
        </p:blipFill>
        <p:spPr>
          <a:xfrm>
            <a:off x="3276600" y="1828800"/>
            <a:ext cx="2743200" cy="1676400"/>
          </a:xfrm>
          <a:prstGeom prst="rect">
            <a:avLst/>
          </a:prstGeom>
        </p:spPr>
      </p:pic>
      <p:pic>
        <p:nvPicPr>
          <p:cNvPr id="6" name="Image 4" descr="preencoded.png"/>
          <p:cNvPicPr>
            <a:picLocks noChangeAspect="1"/>
          </p:cNvPicPr>
          <p:nvPr/>
        </p:nvPicPr>
        <p:blipFill>
          <a:blip r:embed="rId6"/>
          <a:stretch>
            <a:fillRect/>
          </a:stretch>
        </p:blipFill>
        <p:spPr>
          <a:xfrm>
            <a:off x="4476750" y="1990725"/>
            <a:ext cx="342900" cy="342900"/>
          </a:xfrm>
          <a:prstGeom prst="rect">
            <a:avLst/>
          </a:prstGeom>
        </p:spPr>
      </p:pic>
      <p:pic>
        <p:nvPicPr>
          <p:cNvPr id="7" name="Image 5" descr="preencoded.png"/>
          <p:cNvPicPr>
            <a:picLocks noChangeAspect="1"/>
          </p:cNvPicPr>
          <p:nvPr/>
        </p:nvPicPr>
        <p:blipFill>
          <a:blip r:embed="rId7"/>
          <a:stretch>
            <a:fillRect/>
          </a:stretch>
        </p:blipFill>
        <p:spPr>
          <a:xfrm>
            <a:off x="6172200" y="1828800"/>
            <a:ext cx="2743200" cy="1676400"/>
          </a:xfrm>
          <a:prstGeom prst="rect">
            <a:avLst/>
          </a:prstGeom>
        </p:spPr>
      </p:pic>
      <p:pic>
        <p:nvPicPr>
          <p:cNvPr id="8" name="Image 6" descr="preencoded.png"/>
          <p:cNvPicPr>
            <a:picLocks noChangeAspect="1"/>
          </p:cNvPicPr>
          <p:nvPr/>
        </p:nvPicPr>
        <p:blipFill>
          <a:blip r:embed="rId6"/>
          <a:stretch>
            <a:fillRect/>
          </a:stretch>
        </p:blipFill>
        <p:spPr>
          <a:xfrm>
            <a:off x="7372350" y="1990725"/>
            <a:ext cx="342900" cy="342900"/>
          </a:xfrm>
          <a:prstGeom prst="rect">
            <a:avLst/>
          </a:prstGeom>
        </p:spPr>
      </p:pic>
      <p:pic>
        <p:nvPicPr>
          <p:cNvPr id="9" name="Image 7" descr="preencoded.png"/>
          <p:cNvPicPr>
            <a:picLocks noChangeAspect="1"/>
          </p:cNvPicPr>
          <p:nvPr/>
        </p:nvPicPr>
        <p:blipFill>
          <a:blip r:embed="rId4"/>
          <a:stretch>
            <a:fillRect/>
          </a:stretch>
        </p:blipFill>
        <p:spPr>
          <a:xfrm>
            <a:off x="9067800" y="1828800"/>
            <a:ext cx="2743200" cy="1676400"/>
          </a:xfrm>
          <a:prstGeom prst="rect">
            <a:avLst/>
          </a:prstGeom>
        </p:spPr>
      </p:pic>
      <p:pic>
        <p:nvPicPr>
          <p:cNvPr id="10" name="Image 8" descr="preencoded.png"/>
          <p:cNvPicPr>
            <a:picLocks noChangeAspect="1"/>
          </p:cNvPicPr>
          <p:nvPr/>
        </p:nvPicPr>
        <p:blipFill>
          <a:blip r:embed="rId8"/>
          <a:stretch>
            <a:fillRect/>
          </a:stretch>
        </p:blipFill>
        <p:spPr>
          <a:xfrm>
            <a:off x="10267950" y="1990725"/>
            <a:ext cx="342900" cy="342900"/>
          </a:xfrm>
          <a:prstGeom prst="rect">
            <a:avLst/>
          </a:prstGeom>
        </p:spPr>
      </p:pic>
      <p:pic>
        <p:nvPicPr>
          <p:cNvPr id="11" name="Image 9" descr="preencoded.png"/>
          <p:cNvPicPr>
            <a:picLocks noChangeAspect="1"/>
          </p:cNvPicPr>
          <p:nvPr/>
        </p:nvPicPr>
        <p:blipFill>
          <a:blip r:embed="rId9"/>
          <a:stretch>
            <a:fillRect/>
          </a:stretch>
        </p:blipFill>
        <p:spPr>
          <a:xfrm>
            <a:off x="1066800" y="4062412"/>
            <a:ext cx="2438400" cy="1724025"/>
          </a:xfrm>
          <a:prstGeom prst="rect">
            <a:avLst/>
          </a:prstGeom>
        </p:spPr>
      </p:pic>
      <p:pic>
        <p:nvPicPr>
          <p:cNvPr id="12" name="Image 10" descr="preencoded.png"/>
          <p:cNvPicPr>
            <a:picLocks noChangeAspect="1"/>
          </p:cNvPicPr>
          <p:nvPr/>
        </p:nvPicPr>
        <p:blipFill>
          <a:blip r:embed="rId10"/>
          <a:stretch>
            <a:fillRect/>
          </a:stretch>
        </p:blipFill>
        <p:spPr>
          <a:xfrm>
            <a:off x="1066800" y="4062412"/>
            <a:ext cx="463897" cy="304800"/>
          </a:xfrm>
          <a:prstGeom prst="rect">
            <a:avLst/>
          </a:prstGeom>
        </p:spPr>
      </p:pic>
      <p:pic>
        <p:nvPicPr>
          <p:cNvPr id="13" name="Image 11" descr="preencoded.png"/>
          <p:cNvPicPr>
            <a:picLocks noChangeAspect="1"/>
          </p:cNvPicPr>
          <p:nvPr/>
        </p:nvPicPr>
        <p:blipFill>
          <a:blip r:embed="rId11"/>
          <a:stretch>
            <a:fillRect/>
          </a:stretch>
        </p:blipFill>
        <p:spPr>
          <a:xfrm>
            <a:off x="3041303" y="5481638"/>
            <a:ext cx="463897" cy="304800"/>
          </a:xfrm>
          <a:prstGeom prst="rect">
            <a:avLst/>
          </a:prstGeom>
        </p:spPr>
      </p:pic>
      <p:sp>
        <p:nvSpPr>
          <p:cNvPr id="15" name="Text 0"/>
          <p:cNvSpPr/>
          <p:nvPr/>
        </p:nvSpPr>
        <p:spPr>
          <a:xfrm>
            <a:off x="381000" y="381000"/>
            <a:ext cx="12573000" cy="457200"/>
          </a:xfrm>
          <a:prstGeom prst="rect">
            <a:avLst/>
          </a:prstGeom>
          <a:noFill/>
          <a:ln/>
        </p:spPr>
        <p:txBody>
          <a:bodyPr wrap="square" lIns="0" tIns="0" rIns="0" bIns="0" rtlCol="0" anchor="t">
            <a:spAutoFit/>
          </a:bodyPr>
          <a:lstStyle/>
          <a:p>
            <a:pPr marL="0" indent="0">
              <a:lnSpc>
                <a:spcPts val="3600"/>
              </a:lnSpc>
              <a:buNone/>
            </a:pPr>
            <a:r>
              <a:rPr lang="en-US" sz="2170" b="1" dirty="0">
                <a:solidFill>
                  <a:srgbClr val="00FFFF"/>
                </a:solidFill>
                <a:latin typeface="Roboto" pitchFamily="34" charset="0"/>
                <a:ea typeface="Roboto" pitchFamily="34" charset="-122"/>
                <a:cs typeface="Roboto" pitchFamily="34" charset="-120"/>
              </a:rPr>
              <a:t>Eksplozja Pojemności Pamięci Masowej</a:t>
            </a:r>
            <a:endParaRPr lang="en-US" sz="2170" dirty="0"/>
          </a:p>
        </p:txBody>
      </p:sp>
      <p:sp>
        <p:nvSpPr>
          <p:cNvPr id="16" name="Text 1"/>
          <p:cNvSpPr/>
          <p:nvPr/>
        </p:nvSpPr>
        <p:spPr>
          <a:xfrm>
            <a:off x="381000" y="1066800"/>
            <a:ext cx="11430000" cy="609600"/>
          </a:xfrm>
          <a:prstGeom prst="rect">
            <a:avLst/>
          </a:prstGeom>
          <a:noFill/>
          <a:ln/>
        </p:spPr>
        <p:txBody>
          <a:bodyPr wrap="square" lIns="0" tIns="0" rIns="0" bIns="0" rtlCol="0" anchor="t">
            <a:spAutoFit/>
          </a:bodyPr>
          <a:lstStyle/>
          <a:p>
            <a:pPr marL="0" indent="0">
              <a:lnSpc>
                <a:spcPts val="2400"/>
              </a:lnSpc>
              <a:buNone/>
            </a:pPr>
            <a:r>
              <a:rPr lang="en-US" sz="1380" dirty="0">
                <a:solidFill>
                  <a:srgbClr val="FFFFFF"/>
                </a:solidFill>
                <a:latin typeface="Roboto" pitchFamily="34" charset="0"/>
                <a:ea typeface="Roboto" pitchFamily="34" charset="-122"/>
                <a:cs typeface="Roboto" pitchFamily="34" charset="-120"/>
              </a:rPr>
              <a:t>Wzrost pojemności nośników danych jest jednym z najbardziej spektakularnych aspektów ewolucji systemów komputerowych. Przez dekady obserwowaliśmy wykładniczy wzrost ilości danych, które możemy przechowywać na coraz mniejszych urządzeniach.</a:t>
            </a:r>
            <a:endParaRPr lang="en-US" sz="1380" dirty="0"/>
          </a:p>
        </p:txBody>
      </p:sp>
      <p:sp>
        <p:nvSpPr>
          <p:cNvPr id="17" name="Text 2"/>
          <p:cNvSpPr/>
          <p:nvPr/>
        </p:nvSpPr>
        <p:spPr>
          <a:xfrm>
            <a:off x="1284230" y="2438400"/>
            <a:ext cx="936590"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Lata 80.</a:t>
            </a:r>
            <a:endParaRPr lang="en-US" sz="1646" dirty="0"/>
          </a:p>
        </p:txBody>
      </p:sp>
      <p:sp>
        <p:nvSpPr>
          <p:cNvPr id="18" name="Text 3"/>
          <p:cNvSpPr/>
          <p:nvPr/>
        </p:nvSpPr>
        <p:spPr>
          <a:xfrm>
            <a:off x="902293" y="2819400"/>
            <a:ext cx="1700466" cy="3048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Dyskietka 3.5 cala</a:t>
            </a:r>
            <a:endParaRPr lang="en-US" sz="1380" dirty="0"/>
          </a:p>
        </p:txBody>
      </p:sp>
      <p:sp>
        <p:nvSpPr>
          <p:cNvPr id="19" name="Text 4"/>
          <p:cNvSpPr/>
          <p:nvPr/>
        </p:nvSpPr>
        <p:spPr>
          <a:xfrm>
            <a:off x="1435819" y="3124200"/>
            <a:ext cx="633561" cy="228600"/>
          </a:xfrm>
          <a:prstGeom prst="rect">
            <a:avLst/>
          </a:prstGeom>
          <a:noFill/>
          <a:ln/>
        </p:spPr>
        <p:txBody>
          <a:bodyPr wrap="square" lIns="0" tIns="0" rIns="0" bIns="0" rtlCol="0" anchor="t">
            <a:spAutoFit/>
          </a:bodyPr>
          <a:lstStyle/>
          <a:p>
            <a:pPr marL="0" indent="0" algn="ctr">
              <a:lnSpc>
                <a:spcPts val="1800"/>
              </a:lnSpc>
              <a:buNone/>
            </a:pPr>
            <a:r>
              <a:rPr lang="en-US" sz="1120" b="1" dirty="0">
                <a:solidFill>
                  <a:srgbClr val="67E8F9"/>
                </a:solidFill>
                <a:latin typeface="Roboto" pitchFamily="34" charset="0"/>
                <a:ea typeface="Roboto" pitchFamily="34" charset="-122"/>
                <a:cs typeface="Roboto" pitchFamily="34" charset="-120"/>
              </a:rPr>
              <a:t>1.44 MB</a:t>
            </a:r>
            <a:endParaRPr lang="en-US" sz="1120" dirty="0"/>
          </a:p>
        </p:txBody>
      </p:sp>
      <p:sp>
        <p:nvSpPr>
          <p:cNvPr id="20" name="Text 5"/>
          <p:cNvSpPr/>
          <p:nvPr/>
        </p:nvSpPr>
        <p:spPr>
          <a:xfrm>
            <a:off x="4179830" y="2438400"/>
            <a:ext cx="936590"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Lata 90.</a:t>
            </a:r>
            <a:endParaRPr lang="en-US" sz="1646" dirty="0"/>
          </a:p>
        </p:txBody>
      </p:sp>
      <p:sp>
        <p:nvSpPr>
          <p:cNvPr id="21" name="Text 6"/>
          <p:cNvSpPr/>
          <p:nvPr/>
        </p:nvSpPr>
        <p:spPr>
          <a:xfrm>
            <a:off x="3611746" y="2819400"/>
            <a:ext cx="2072908" cy="3048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Pierwsze dyski twarde</a:t>
            </a:r>
            <a:endParaRPr lang="en-US" sz="1380" dirty="0"/>
          </a:p>
        </p:txBody>
      </p:sp>
      <p:sp>
        <p:nvSpPr>
          <p:cNvPr id="22" name="Text 7"/>
          <p:cNvSpPr/>
          <p:nvPr/>
        </p:nvSpPr>
        <p:spPr>
          <a:xfrm>
            <a:off x="4280178" y="3124200"/>
            <a:ext cx="736044" cy="228600"/>
          </a:xfrm>
          <a:prstGeom prst="rect">
            <a:avLst/>
          </a:prstGeom>
          <a:noFill/>
          <a:ln/>
        </p:spPr>
        <p:txBody>
          <a:bodyPr wrap="square" lIns="0" tIns="0" rIns="0" bIns="0" rtlCol="0" anchor="t">
            <a:spAutoFit/>
          </a:bodyPr>
          <a:lstStyle/>
          <a:p>
            <a:pPr marL="0" indent="0" algn="ctr">
              <a:lnSpc>
                <a:spcPts val="1800"/>
              </a:lnSpc>
              <a:buNone/>
            </a:pPr>
            <a:r>
              <a:rPr lang="en-US" sz="1120" b="1" dirty="0">
                <a:solidFill>
                  <a:srgbClr val="67E8F9"/>
                </a:solidFill>
                <a:latin typeface="Roboto" pitchFamily="34" charset="0"/>
                <a:ea typeface="Roboto" pitchFamily="34" charset="-122"/>
                <a:cs typeface="Roboto" pitchFamily="34" charset="-120"/>
              </a:rPr>
              <a:t>20-40 MB</a:t>
            </a:r>
            <a:endParaRPr lang="en-US" sz="1120" dirty="0"/>
          </a:p>
        </p:txBody>
      </p:sp>
      <p:sp>
        <p:nvSpPr>
          <p:cNvPr id="23" name="Text 8"/>
          <p:cNvSpPr/>
          <p:nvPr/>
        </p:nvSpPr>
        <p:spPr>
          <a:xfrm>
            <a:off x="6935621" y="2438400"/>
            <a:ext cx="1216209"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Lata 2000.</a:t>
            </a:r>
            <a:endParaRPr lang="en-US" sz="1646" dirty="0"/>
          </a:p>
        </p:txBody>
      </p:sp>
      <p:sp>
        <p:nvSpPr>
          <p:cNvPr id="24" name="Text 9"/>
          <p:cNvSpPr/>
          <p:nvPr/>
        </p:nvSpPr>
        <p:spPr>
          <a:xfrm>
            <a:off x="6943971" y="2819400"/>
            <a:ext cx="1199510" cy="3048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Dyski twarde</a:t>
            </a:r>
            <a:endParaRPr lang="en-US" sz="1380" dirty="0"/>
          </a:p>
        </p:txBody>
      </p:sp>
      <p:sp>
        <p:nvSpPr>
          <p:cNvPr id="25" name="Text 10"/>
          <p:cNvSpPr/>
          <p:nvPr/>
        </p:nvSpPr>
        <p:spPr>
          <a:xfrm>
            <a:off x="7133712" y="3124200"/>
            <a:ext cx="820028" cy="228600"/>
          </a:xfrm>
          <a:prstGeom prst="rect">
            <a:avLst/>
          </a:prstGeom>
          <a:noFill/>
          <a:ln/>
        </p:spPr>
        <p:txBody>
          <a:bodyPr wrap="square" lIns="0" tIns="0" rIns="0" bIns="0" rtlCol="0" anchor="t">
            <a:spAutoFit/>
          </a:bodyPr>
          <a:lstStyle/>
          <a:p>
            <a:pPr marL="0" indent="0" algn="ctr">
              <a:lnSpc>
                <a:spcPts val="1800"/>
              </a:lnSpc>
              <a:buNone/>
            </a:pPr>
            <a:r>
              <a:rPr lang="en-US" sz="1120" b="1" dirty="0">
                <a:solidFill>
                  <a:srgbClr val="67E8F9"/>
                </a:solidFill>
                <a:latin typeface="Roboto" pitchFamily="34" charset="0"/>
                <a:ea typeface="Roboto" pitchFamily="34" charset="-122"/>
                <a:cs typeface="Roboto" pitchFamily="34" charset="-120"/>
              </a:rPr>
              <a:t>10-100 GB</a:t>
            </a:r>
            <a:endParaRPr lang="en-US" sz="1120" dirty="0"/>
          </a:p>
        </p:txBody>
      </p:sp>
      <p:sp>
        <p:nvSpPr>
          <p:cNvPr id="26" name="Text 11"/>
          <p:cNvSpPr/>
          <p:nvPr/>
        </p:nvSpPr>
        <p:spPr>
          <a:xfrm>
            <a:off x="9831221" y="2438400"/>
            <a:ext cx="1216209" cy="342900"/>
          </a:xfrm>
          <a:prstGeom prst="rect">
            <a:avLst/>
          </a:prstGeom>
          <a:noFill/>
          <a:ln/>
        </p:spPr>
        <p:txBody>
          <a:bodyPr wrap="square" lIns="0" tIns="0" rIns="0" bIns="0" rtlCol="0" anchor="t">
            <a:spAutoFit/>
          </a:bodyPr>
          <a:lstStyle/>
          <a:p>
            <a:pPr marL="0" indent="0" algn="ctr">
              <a:lnSpc>
                <a:spcPts val="2700"/>
              </a:lnSpc>
              <a:buNone/>
            </a:pPr>
            <a:r>
              <a:rPr lang="en-US" sz="1646" b="1" dirty="0">
                <a:solidFill>
                  <a:srgbClr val="FFFFFF"/>
                </a:solidFill>
                <a:latin typeface="Roboto" pitchFamily="34" charset="0"/>
                <a:ea typeface="Roboto" pitchFamily="34" charset="-122"/>
                <a:cs typeface="Roboto" pitchFamily="34" charset="-120"/>
              </a:rPr>
              <a:t>Lata 2010.</a:t>
            </a:r>
            <a:endParaRPr lang="en-US" sz="1646" dirty="0"/>
          </a:p>
        </p:txBody>
      </p:sp>
      <p:sp>
        <p:nvSpPr>
          <p:cNvPr id="27" name="Text 12"/>
          <p:cNvSpPr/>
          <p:nvPr/>
        </p:nvSpPr>
        <p:spPr>
          <a:xfrm>
            <a:off x="9548485" y="2819400"/>
            <a:ext cx="1781830" cy="304800"/>
          </a:xfrm>
          <a:prstGeom prst="rect">
            <a:avLst/>
          </a:prstGeom>
          <a:noFill/>
          <a:ln/>
        </p:spPr>
        <p:txBody>
          <a:bodyPr wrap="square" lIns="0" tIns="0" rIns="0" bIns="0" rtlCol="0" anchor="t">
            <a:spAutoFit/>
          </a:bodyPr>
          <a:lstStyle/>
          <a:p>
            <a:pPr marL="0" indent="0" algn="ctr">
              <a:lnSpc>
                <a:spcPts val="2400"/>
              </a:lnSpc>
              <a:buNone/>
            </a:pPr>
            <a:r>
              <a:rPr lang="en-US" sz="1380" dirty="0">
                <a:solidFill>
                  <a:srgbClr val="FFFFFF"/>
                </a:solidFill>
                <a:latin typeface="Roboto" pitchFamily="34" charset="0"/>
                <a:ea typeface="Roboto" pitchFamily="34" charset="-122"/>
                <a:cs typeface="Roboto" pitchFamily="34" charset="-120"/>
              </a:rPr>
              <a:t>Współczesne dyski</a:t>
            </a:r>
            <a:endParaRPr lang="en-US" sz="1380" dirty="0"/>
          </a:p>
        </p:txBody>
      </p:sp>
      <p:sp>
        <p:nvSpPr>
          <p:cNvPr id="28" name="Text 13"/>
          <p:cNvSpPr/>
          <p:nvPr/>
        </p:nvSpPr>
        <p:spPr>
          <a:xfrm>
            <a:off x="10278643" y="3124200"/>
            <a:ext cx="321365" cy="228600"/>
          </a:xfrm>
          <a:prstGeom prst="rect">
            <a:avLst/>
          </a:prstGeom>
          <a:noFill/>
          <a:ln/>
        </p:spPr>
        <p:txBody>
          <a:bodyPr wrap="square" lIns="0" tIns="0" rIns="0" bIns="0" rtlCol="0" anchor="t">
            <a:spAutoFit/>
          </a:bodyPr>
          <a:lstStyle/>
          <a:p>
            <a:pPr marL="0" indent="0" algn="ctr">
              <a:lnSpc>
                <a:spcPts val="1800"/>
              </a:lnSpc>
              <a:buNone/>
            </a:pPr>
            <a:r>
              <a:rPr lang="en-US" sz="1120" b="1" dirty="0">
                <a:solidFill>
                  <a:srgbClr val="67E8F9"/>
                </a:solidFill>
                <a:latin typeface="Roboto" pitchFamily="34" charset="0"/>
                <a:ea typeface="Roboto" pitchFamily="34" charset="-122"/>
                <a:cs typeface="Roboto" pitchFamily="34" charset="-120"/>
              </a:rPr>
              <a:t>TB+</a:t>
            </a:r>
            <a:endParaRPr lang="en-US" sz="1120" dirty="0"/>
          </a:p>
        </p:txBody>
      </p:sp>
      <p:sp>
        <p:nvSpPr>
          <p:cNvPr id="29" name="Text 14"/>
          <p:cNvSpPr/>
          <p:nvPr/>
        </p:nvSpPr>
        <p:spPr>
          <a:xfrm>
            <a:off x="1143000" y="4138613"/>
            <a:ext cx="342647"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67E8F9"/>
                </a:solidFill>
                <a:latin typeface="Roboto" pitchFamily="34" charset="0"/>
                <a:ea typeface="Roboto" pitchFamily="34" charset="-122"/>
                <a:cs typeface="Roboto" pitchFamily="34" charset="-120"/>
              </a:rPr>
              <a:t>1980s</a:t>
            </a:r>
            <a:endParaRPr lang="en-US" sz="840" dirty="0"/>
          </a:p>
        </p:txBody>
      </p:sp>
      <p:sp>
        <p:nvSpPr>
          <p:cNvPr id="30" name="Text 15"/>
          <p:cNvSpPr/>
          <p:nvPr/>
        </p:nvSpPr>
        <p:spPr>
          <a:xfrm>
            <a:off x="3117503" y="5557838"/>
            <a:ext cx="342647" cy="152400"/>
          </a:xfrm>
          <a:prstGeom prst="rect">
            <a:avLst/>
          </a:prstGeom>
          <a:noFill/>
          <a:ln/>
        </p:spPr>
        <p:txBody>
          <a:bodyPr wrap="square" lIns="0" tIns="0" rIns="0" bIns="0" rtlCol="0" anchor="t">
            <a:spAutoFit/>
          </a:bodyPr>
          <a:lstStyle/>
          <a:p>
            <a:pPr marL="0" indent="0">
              <a:lnSpc>
                <a:spcPts val="1200"/>
              </a:lnSpc>
              <a:buNone/>
            </a:pPr>
            <a:r>
              <a:rPr lang="en-US" sz="840" dirty="0">
                <a:solidFill>
                  <a:srgbClr val="FDBA74"/>
                </a:solidFill>
                <a:latin typeface="Roboto" pitchFamily="34" charset="0"/>
                <a:ea typeface="Roboto" pitchFamily="34" charset="-122"/>
                <a:cs typeface="Roboto" pitchFamily="34" charset="-120"/>
              </a:rPr>
              <a:t>2020s</a:t>
            </a:r>
            <a:endParaRPr lang="en-US" sz="8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tyw pakietu Office">
  <a:themeElements>
    <a:clrScheme name="Pakiet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Pakiet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Pakiet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TotalTime>
  <Words>1039</Words>
  <Application>Microsoft Office PowerPoint</Application>
  <PresentationFormat>Panoramiczny</PresentationFormat>
  <Paragraphs>167</Paragraphs>
  <Slides>9</Slides>
  <Notes>9</Notes>
  <HiddenSlides>0</HiddenSlides>
  <MMClips>0</MMClips>
  <ScaleCrop>false</ScaleCrop>
  <HeadingPairs>
    <vt:vector size="6" baseType="variant">
      <vt:variant>
        <vt:lpstr>Używane czcionki</vt:lpstr>
      </vt:variant>
      <vt:variant>
        <vt:i4>2</vt:i4>
      </vt:variant>
      <vt:variant>
        <vt:lpstr>Motyw</vt:lpstr>
      </vt:variant>
      <vt:variant>
        <vt:i4>1</vt:i4>
      </vt:variant>
      <vt:variant>
        <vt:lpstr>Tytuły slajdów</vt:lpstr>
      </vt:variant>
      <vt:variant>
        <vt:i4>9</vt:i4>
      </vt:variant>
    </vt:vector>
  </HeadingPairs>
  <TitlesOfParts>
    <vt:vector size="12" baseType="lpstr">
      <vt:lpstr>Arial</vt:lpstr>
      <vt:lpstr>Roboto</vt:lpstr>
      <vt:lpstr>Office Theme</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lpstr>Prezentacja programu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Jakub Mucha</cp:lastModifiedBy>
  <cp:revision>2</cp:revision>
  <dcterms:created xsi:type="dcterms:W3CDTF">2025-09-21T19:56:34Z</dcterms:created>
  <dcterms:modified xsi:type="dcterms:W3CDTF">2025-09-21T20:14:17Z</dcterms:modified>
</cp:coreProperties>
</file>